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c404799b2ad847a1" /><Relationship Type="http://schemas.openxmlformats.org/package/2006/relationships/metadata/core-properties" Target="/docProps/core.xml" Id="Rfd7e1cdae231453a" /><Relationship Type="http://schemas.openxmlformats.org/officeDocument/2006/relationships/extended-properties" Target="/docProps/app.xml" Id="Rcae18a3f9bb54dd2" /><Relationship Type="http://schemas.openxmlformats.org/officeDocument/2006/relationships/custom-properties" Target="/docProps/custom.xml" Id="R38212755a7994bc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66563a7edb9946db"/>
  </p:notesMasterIdLst>
  <p:sldIdLst>
    <p:sldId id="256" r:id="R4d8c4ae2708344a9"/>
    <p:sldId id="257" r:id="R1cad8c34f8a74fe8"/>
    <p:sldId id="258" r:id="R7fa55450790e46b0"/>
    <p:sldId id="259" r:id="Raba6d91f0c5c4ac6"/>
    <p:sldId id="260" r:id="R871743a6716c4e05"/>
    <p:sldId id="261" r:id="R09506f4e308241ae"/>
    <p:sldId id="262" r:id="Rb61007651e0548b2"/>
    <p:sldId id="263" r:id="R9ef0b0d412674696"/>
    <p:sldId id="264" r:id="R9839e6bb1f9c4cf0"/>
    <p:sldId id="265" r:id="R0557c9c451324e94"/>
    <p:sldId id="266" r:id="R9a7e434ab56e4fba"/>
    <p:sldId id="267" r:id="R75950d30b26e4012"/>
    <p:sldId id="268" r:id="Rce79e8fd917d4819"/>
    <p:sldId id="269" r:id="R09760d0600f8436a"/>
    <p:sldId id="270" r:id="R7ba326f0f0df42f5"/>
    <p:sldId id="271" r:id="R21143eaae92947c2"/>
    <p:sldId id="272" r:id="R714fd9336a87430a"/>
    <p:sldId id="273" r:id="Re772c9e1767943b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d8c4ae2708344a9" /><Relationship Type="http://schemas.openxmlformats.org/officeDocument/2006/relationships/notesMaster" Target="/ppt/notesMasters/notesMaster1.xml" Id="R66563a7edb9946db" /><Relationship Type="http://schemas.openxmlformats.org/officeDocument/2006/relationships/slide" Target="/ppt/slides/slide2.xml" Id="R1cad8c34f8a74fe8" /><Relationship Type="http://schemas.openxmlformats.org/officeDocument/2006/relationships/slide" Target="/ppt/slides/slide3.xml" Id="R7fa55450790e46b0" /><Relationship Type="http://schemas.openxmlformats.org/officeDocument/2006/relationships/slide" Target="/ppt/slides/slide4.xml" Id="Raba6d91f0c5c4ac6" /><Relationship Type="http://schemas.openxmlformats.org/officeDocument/2006/relationships/slide" Target="/ppt/slides/slide5.xml" Id="R871743a6716c4e05" /><Relationship Type="http://schemas.openxmlformats.org/officeDocument/2006/relationships/slide" Target="/ppt/slides/slide6.xml" Id="R09506f4e308241ae" /><Relationship Type="http://schemas.openxmlformats.org/officeDocument/2006/relationships/slide" Target="/ppt/slides/slide7.xml" Id="Rb61007651e0548b2" /><Relationship Type="http://schemas.openxmlformats.org/officeDocument/2006/relationships/slide" Target="/ppt/slides/slide8.xml" Id="R9ef0b0d412674696" /><Relationship Type="http://schemas.openxmlformats.org/officeDocument/2006/relationships/slide" Target="/ppt/slides/slide9.xml" Id="R9839e6bb1f9c4cf0" /><Relationship Type="http://schemas.openxmlformats.org/officeDocument/2006/relationships/slide" Target="/ppt/slides/slide10.xml" Id="R0557c9c451324e94" /><Relationship Type="http://schemas.openxmlformats.org/officeDocument/2006/relationships/slide" Target="/ppt/slides/slide11.xml" Id="R9a7e434ab56e4fba" /><Relationship Type="http://schemas.openxmlformats.org/officeDocument/2006/relationships/slide" Target="/ppt/slides/slide12.xml" Id="R75950d30b26e4012" /><Relationship Type="http://schemas.openxmlformats.org/officeDocument/2006/relationships/slide" Target="/ppt/slides/slide13.xml" Id="Rce79e8fd917d4819" /><Relationship Type="http://schemas.openxmlformats.org/officeDocument/2006/relationships/slide" Target="/ppt/slides/slide14.xml" Id="R09760d0600f8436a" /><Relationship Type="http://schemas.openxmlformats.org/officeDocument/2006/relationships/slide" Target="/ppt/slides/slide15.xml" Id="R7ba326f0f0df42f5" /><Relationship Type="http://schemas.openxmlformats.org/officeDocument/2006/relationships/slide" Target="/ppt/slides/slide16.xml" Id="R21143eaae92947c2" /><Relationship Type="http://schemas.openxmlformats.org/officeDocument/2006/relationships/slide" Target="/ppt/slides/slide17.xml" Id="R714fd9336a87430a" /><Relationship Type="http://schemas.openxmlformats.org/officeDocument/2006/relationships/slide" Target="/ppt/slides/slide18.xml" Id="Re772c9e1767943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3b7c5ee215748bd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2b5b027d74f4390" /><Relationship Type="http://schemas.openxmlformats.org/officeDocument/2006/relationships/slide" Target="/ppt/slides/slide1.xml" Id="R7ac6d90f4e1d48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08870718ef04457" /><Relationship Type="http://schemas.openxmlformats.org/officeDocument/2006/relationships/slide" Target="/ppt/slides/slide2.xml" Id="R72b95f7a7ca449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cdc24c212a84c7d" /><Relationship Type="http://schemas.openxmlformats.org/officeDocument/2006/relationships/slide" Target="/ppt/slides/slide3.xml" Id="R29be638ade1647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2d1380cdf064080" /><Relationship Type="http://schemas.openxmlformats.org/officeDocument/2006/relationships/slide" Target="/ppt/slides/slide4.xml" Id="R2cd5eebbeb4c4e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9b7450162064894" /><Relationship Type="http://schemas.openxmlformats.org/officeDocument/2006/relationships/slide" Target="/ppt/slides/slide5.xml" Id="Re9ae1113b3b2462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fdf9b58dbff44bd" /><Relationship Type="http://schemas.openxmlformats.org/officeDocument/2006/relationships/slide" Target="/ppt/slides/slide6.xml" Id="Rb711f1b385bb40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18f5aba1c2f4e5a" /><Relationship Type="http://schemas.openxmlformats.org/officeDocument/2006/relationships/slide" Target="/ppt/slides/slide7.xml" Id="R0e78b2423b374e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e1b187cd0f24094" /><Relationship Type="http://schemas.openxmlformats.org/officeDocument/2006/relationships/slide" Target="/ppt/slides/slide8.xml" Id="Rd1cbffeec62c4c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9842a0131ee4ff1" /><Relationship Type="http://schemas.openxmlformats.org/officeDocument/2006/relationships/slide" Target="/ppt/slides/slide9.xml" Id="R14ef2fb676ca42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81a47a2a363481b" /><Relationship Type="http://schemas.openxmlformats.org/officeDocument/2006/relationships/slide" Target="/ppt/slides/slide10.xml" Id="Rd4ecc82e2e9147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7b337a4158d4d3d" /><Relationship Type="http://schemas.openxmlformats.org/officeDocument/2006/relationships/slide" Target="/ppt/slides/slide11.xml" Id="Re49bf76249b44c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7d03eaf968e4323" /><Relationship Type="http://schemas.openxmlformats.org/officeDocument/2006/relationships/slide" Target="/ppt/slides/slide12.xml" Id="Rea6a274823bb47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1d5c95d74384335" /><Relationship Type="http://schemas.openxmlformats.org/officeDocument/2006/relationships/slide" Target="/ppt/slides/slide13.xml" Id="R0f955ef4508546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7ec699a103942c6" /><Relationship Type="http://schemas.openxmlformats.org/officeDocument/2006/relationships/slide" Target="/ppt/slides/slide14.xml" Id="R9ed91b52b4da4ec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93112c937ad4c4c" /><Relationship Type="http://schemas.openxmlformats.org/officeDocument/2006/relationships/slide" Target="/ppt/slides/slide15.xml" Id="R7594d2fe5bf842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431f996f56b4b4e" /><Relationship Type="http://schemas.openxmlformats.org/officeDocument/2006/relationships/slide" Target="/ppt/slides/slide16.xml" Id="R92a291b0fe07453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86b8fd760ee4578" /><Relationship Type="http://schemas.openxmlformats.org/officeDocument/2006/relationships/slide" Target="/ppt/slides/slide17.xml" Id="R1d39b95c5c7a415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db8a7e7157a4082" /><Relationship Type="http://schemas.openxmlformats.org/officeDocument/2006/relationships/slide" Target="/ppt/slides/slide18.xml" Id="R063ada09b5ee4b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Title slide. NutriGuide is a full-stack Agentic AI web application that generates personalized 7-day nutrition plans using IBM Granite 3.3 8B Instruct via Watsonx.ai.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NutriGuide is a complete Agentic AI web application. It uses IBM Granite via Watsonx.ai to generate nutrition plans, and includes a Q&amp;A agent, ethical guardrails, and markdown export.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All 8 phases of the Agentic AI SDLC were followed: Requirements, Architecture, Agent Design, Development, Guardrails, Testing, Deployment, and Monitoring.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architecture is a 3-layer stack: Browser SPA on top, Flask backend in the middle with guardrails/disclaimers/export modules, and IBM Granite via Watsonx.ai at the bottom.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9 key features: IBM Granite LLM, User Profiling, 7-Day Meal Plans, Ethical Guardrails, Q&amp;A Agent, Markdown Export, HAM Principles, Medical Disclaimers, and Demo Mode.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home page shows a two-panel layout. Left panel has the user profile form. Right panel shows the welcome state with feature tiles. The header shows IBM Granite and Watsonx.ai badges.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When the user submits the form, the app validates input, runs guardrails, builds a system prompt with HAM principles, calls IBM Granite via Watsonx.ai, sanitizes the response, appends disclaimers, and auto-saves to plans/.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plan output renders as formatted Markdown: meta bar with user info, action buttons for download/copy, full plan content with macros table and 7-day meals, and medical disclaimer at the bottom.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Every generated plan is saved as a .md file in the plans/ directory with YAML frontmatter including model name and timestamp. Users can download it from the web UI.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Q&amp;A tab lets users ask any nutrition question. IBM Granite answers in context of the user's profile. Quick suggestion chips speed up interaction. Each answer includes a short disclaimer.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Three pillars of ethical AI: Input Guardrails (validation + harmful content blocking), LLM Guardrails (system prompt constraints + output sanitization), and HAM Principles (Helpful, Accurate, Meaningful).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IBM Granite 3.3 8B Instruct is called via ibm-watsonx-ai SDK using the instruct prompt format. The system prompt embeds user profile, HAM principles and guardrails. Demo mode works without API key.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5 REST API endpoints: GET / serves the SPA, POST /api/generate-plan creates the nutrition plan, POST /api/ask handles Q&amp;A, GET /api/download-plan/&lt;file&gt; downloads .md, GET /api/health checks LLM status.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13 files in the project: app.py (backend), guardrails.py, disclaimer.py, requirements.txt, .env.example, run.bat, README.md, .gitignore, LICENSE, index.html, style.css, app.js, and sample plan.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run.bat automates the entire setup: Python check, .env creation and credential prompt, venv creation, pip install, plans/ directory creation, Flask launch, and auto-opens the browser.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The repository is live on GitHub. Clone and run with 3 commands. All 13 files are committed including README with architecture diagrams, .gitignore, LICENSE, and the full application code.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Every nutrition plan includes a full medical disclaimer. High-risk conditions trigger enhanced warnings. IBM Responsible AI principles are applied throughout: Transparency, Fairness, Privacy, Safety, Accountability.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slide. Thank you. NutriGuide Agentic AI — powered by IBM Granite 3.3 via Watsonx.ai. Full source code available on GitHub. Always consult a healthcare provider before making dietary changes.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b1782bce9441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c62ea81e0244f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df5dedded343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c2f47b9dac41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3b5031d904a1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7b3272d688a5434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12d2015a84e3a" /><Relationship Type="http://schemas.openxmlformats.org/officeDocument/2006/relationships/notesSlide" Target="/ppt/notesSlides/notesSlide1.xml" Id="Rf431113e016345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b19644d824e02" /><Relationship Type="http://schemas.openxmlformats.org/officeDocument/2006/relationships/notesSlide" Target="/ppt/notesSlides/notesSlide2.xml" Id="Re1f64b6a3c5848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6ccce7ae44375" /><Relationship Type="http://schemas.openxmlformats.org/officeDocument/2006/relationships/notesSlide" Target="/ppt/notesSlides/notesSlide3.xml" Id="R8e909521944443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e61a345c246c5" /><Relationship Type="http://schemas.openxmlformats.org/officeDocument/2006/relationships/notesSlide" Target="/ppt/notesSlides/notesSlide4.xml" Id="R7bad6b38f8ad43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574e773cb4ff6" /><Relationship Type="http://schemas.openxmlformats.org/officeDocument/2006/relationships/notesSlide" Target="/ppt/notesSlides/notesSlide5.xml" Id="Rdc84e603bbf24a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b7b9882a9d4fd0" /><Relationship Type="http://schemas.openxmlformats.org/officeDocument/2006/relationships/notesSlide" Target="/ppt/notesSlides/notesSlide6.xml" Id="Re8fce2d75fce45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82914b1094a3a" /><Relationship Type="http://schemas.openxmlformats.org/officeDocument/2006/relationships/notesSlide" Target="/ppt/notesSlides/notesSlide7.xml" Id="R005cec5049654e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efce74b444b7b" /><Relationship Type="http://schemas.openxmlformats.org/officeDocument/2006/relationships/notesSlide" Target="/ppt/notesSlides/notesSlide8.xml" Id="R3551cdc4acfa48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34133fdec412e" /><Relationship Type="http://schemas.openxmlformats.org/officeDocument/2006/relationships/notesSlide" Target="/ppt/notesSlides/notesSlide9.xml" Id="R562cc5e03fe840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7f8347c6b44f5" /><Relationship Type="http://schemas.openxmlformats.org/officeDocument/2006/relationships/notesSlide" Target="/ppt/notesSlides/notesSlide10.xml" Id="R4a0606d74fe740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c9fd5503044c20" /><Relationship Type="http://schemas.openxmlformats.org/officeDocument/2006/relationships/notesSlide" Target="/ppt/notesSlides/notesSlide11.xml" Id="R3cc6a18eac654f3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2248fe15346c3" /><Relationship Type="http://schemas.openxmlformats.org/officeDocument/2006/relationships/notesSlide" Target="/ppt/notesSlides/notesSlide12.xml" Id="Rbad50d2af65547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60b2bf64a488b" /><Relationship Type="http://schemas.openxmlformats.org/officeDocument/2006/relationships/notesSlide" Target="/ppt/notesSlides/notesSlide13.xml" Id="R1c58320a80b544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11f9703e94204" /><Relationship Type="http://schemas.openxmlformats.org/officeDocument/2006/relationships/notesSlide" Target="/ppt/notesSlides/notesSlide14.xml" Id="R8c1caede14e2432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3aaa391754434" /><Relationship Type="http://schemas.openxmlformats.org/officeDocument/2006/relationships/notesSlide" Target="/ppt/notesSlides/notesSlide15.xml" Id="Rd41e96ac56a44d1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6aaee217a4258" /><Relationship Type="http://schemas.openxmlformats.org/officeDocument/2006/relationships/notesSlide" Target="/ppt/notesSlides/notesSlide16.xml" Id="R8655eb6f30e14a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119ff19174f78" /><Relationship Type="http://schemas.openxmlformats.org/officeDocument/2006/relationships/notesSlide" Target="/ppt/notesSlides/notesSlide17.xml" Id="Rae55caab0e9e4eb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079de730a4992" /><Relationship Type="http://schemas.openxmlformats.org/officeDocument/2006/relationships/notesSlide" Target="/ppt/notesSlides/notesSlide18.xml" Id="R39dda67b9c6d47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342"/>
        </a:solidFill>
      </p:bgPr>
    </p:bg>
    <p:spTree>
      <p:nvGrpSpPr>
        <p:cNvPr id="1" name=""/>
        <p:cNvGrpSpPr/>
        <p:nvPr/>
      </p:nvGrpSpPr>
      <p:grpSpPr/>
      <p:sp>
        <p:nvSpPr>
          <p:cNvPr id="100000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720000" y="900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FFFF"/>
                </a:solidFill>
                <a:latin typeface="Calibri"/>
                <a:ea typeface="Calibri"/>
              </a:rPr>
              <a:t>NutriGuide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720000" y="2088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0">
                <a:solidFill>
                  <a:srgbClr val="A8C8FF"/>
                </a:solidFill>
                <a:latin typeface="Calibri"/>
                <a:ea typeface="Calibri"/>
              </a:rPr>
              <a:t>Nutrition Agentic AI Application</a:t>
            </a:r>
          </a:p>
        </p:txBody>
      </p:sp>
      <p:sp>
        <p:nvSpPr>
          <p:cNvPr id="100003" name="Tagline"/>
          <p:cNvSpPr txBox="1"/>
          <p:nvPr/>
        </p:nvSpPr>
        <p:spPr>
          <a:xfrm xmlns:a="http://schemas.openxmlformats.org/drawingml/2006/main">
            <a:off x="720000" y="270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6929C4"/>
                </a:solidFill>
                <a:latin typeface="Calibri"/>
                <a:ea typeface="Calibri"/>
              </a:rPr>
              <a:t>Powered by IBM Granite 3.3 8B Instruct  |  Watsonx.ai  |  Flask</a:t>
            </a:r>
          </a:p>
        </p:txBody>
      </p:sp>
      <p:sp>
        <p:nvSpPr>
          <p:cNvPr id="100004" name="Divider"/>
          <p:cNvSpPr txBox="1"/>
          <p:nvPr/>
        </p:nvSpPr>
        <p:spPr>
          <a:xfrm xmlns:a="http://schemas.openxmlformats.org/drawingml/2006/main">
            <a:off x="720000" y="3240000"/>
            <a:ext cx="36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62FE"/>
              </a:solidFill>
            </a:endParaRPr>
          </a:p>
        </p:txBody>
      </p:sp>
      <p:sp>
        <p:nvSpPr>
          <p:cNvPr id="100005" name="Pills"/>
          <p:cNvSpPr txBox="1"/>
          <p:nvPr/>
        </p:nvSpPr>
        <p:spPr>
          <a:xfrm xmlns:a="http://schemas.openxmlformats.org/drawingml/2006/main">
            <a:off x="720000" y="342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9EF0AC"/>
                </a:solidFill>
                <a:latin typeface="Calibri"/>
                <a:ea typeface="Calibri"/>
              </a:rPr>
              <a:t>Ethical AI   |   HAM Principles   |   Medical Guardrails   |   7-Day Meal Plans</a:t>
            </a:r>
          </a:p>
        </p:txBody>
      </p:sp>
      <p:sp>
        <p:nvSpPr>
          <p:cNvPr id="100006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7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A8C8FF"/>
                </a:solidFill>
              </a:rPr>
              <a:t>NutriGuide Agentic AI  |  IBM Granite</a:t>
            </a:r>
          </a:p>
        </p:txBody>
      </p:sp>
      <p:sp>
        <p:nvSpPr>
          <p:cNvPr id="100008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A2342"/>
                </a:solidFill>
                <a:latin typeface="Calibri"/>
                <a:ea typeface="Calibri"/>
              </a:rPr>
              <a:t>Project Overview</a:t>
            </a:r>
          </a:p>
        </p:txBody>
      </p:sp>
      <p:sp>
        <p:nvSpPr>
          <p:cNvPr id="100009" name="Accent"/>
          <p:cNvSpPr txBox="1"/>
          <p:nvPr/>
        </p:nvSpPr>
        <p:spPr>
          <a:xfrm xmlns:a="http://schemas.openxmlformats.org/drawingml/2006/main">
            <a:off x="540000" y="900000"/>
            <a:ext cx="14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62FE"/>
              </a:solidFill>
            </a:endParaRPr>
          </a:p>
        </p:txBody>
      </p:sp>
      <p:sp>
        <p:nvSpPr>
          <p:cNvPr id="100010" name="WhatBox"/>
          <p:cNvSpPr txBox="1"/>
          <p:nvPr/>
        </p:nvSpPr>
        <p:spPr>
          <a:xfrm xmlns:a="http://schemas.openxmlformats.org/drawingml/2006/main">
            <a:off x="540000" y="1008000"/>
            <a:ext cx="504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1F2E"/>
                </a:solidFill>
                <a:latin typeface="Calibri"/>
                <a:ea typeface="Calibri"/>
              </a:rPr>
              <a:t>What is NutriGuide?</a:t>
            </a:r>
          </a:p>
          <a:p xmlns:a="http://schemas.openxmlformats.org/drawingml/2006/main">
            <a:r>
              <a:rPr lang="en-US" sz="1600" b="0">
                <a:solidFill>
                  <a:srgbClr val="1A1F2E"/>
                </a:solidFill>
                <a:latin typeface="Calibri"/>
                <a:ea typeface="Calibri"/>
              </a:rPr>
              <a:t>NutriGuide is a web-based Agentic AI application that collects a user's health profile and generates a fully personalized 7-day nutrition plan using IBM Granite LLM via Watsonx.ai.</a:t>
            </a:r>
          </a:p>
        </p:txBody>
      </p:sp>
      <p:sp>
        <p:nvSpPr>
          <p:cNvPr id="100011" name="WhyBox"/>
          <p:cNvSpPr txBox="1"/>
          <p:nvPr/>
        </p:nvSpPr>
        <p:spPr>
          <a:xfrm xmlns:a="http://schemas.openxmlformats.org/drawingml/2006/main">
            <a:off x="5940000" y="1008000"/>
            <a:ext cx="54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1F2E"/>
                </a:solidFill>
                <a:latin typeface="Calibri"/>
                <a:ea typeface="Calibri"/>
              </a:rPr>
              <a:t>Why Agentic AI?</a:t>
            </a:r>
          </a:p>
          <a:p xmlns:a="http://schemas.openxmlformats.org/drawingml/2006/main">
            <a:r>
              <a:rPr lang="en-US" sz="1600" b="0">
                <a:solidFill>
                  <a:srgbClr val="1A1F2E"/>
                </a:solidFill>
                <a:latin typeface="Calibri"/>
                <a:ea typeface="Calibri"/>
              </a:rPr>
              <a:t>- Autonomous multi-step reasoning</a:t>
            </a:r>
          </a:p>
          <a:p xmlns:a="http://schemas.openxmlformats.org/drawingml/2006/main">
            <a:r>
              <a:rPr lang="en-US" sz="1600" b="0">
                <a:solidFill>
                  <a:srgbClr val="1A1F2E"/>
                </a:solidFill>
                <a:latin typeface="Calibri"/>
                <a:ea typeface="Calibri"/>
              </a:rPr>
              <a:t>- Context-aware Q&amp;A agent</a:t>
            </a:r>
          </a:p>
          <a:p xmlns:a="http://schemas.openxmlformats.org/drawingml/2006/main">
            <a:r>
              <a:rPr lang="en-US" sz="1600" b="0">
                <a:solidFill>
                  <a:srgbClr val="1A1F2E"/>
                </a:solidFill>
                <a:latin typeface="Calibri"/>
                <a:ea typeface="Calibri"/>
              </a:rPr>
              <a:t>- Guardrails &amp; ethics pipeline</a:t>
            </a:r>
          </a:p>
          <a:p xmlns:a="http://schemas.openxmlformats.org/drawingml/2006/main">
            <a:r>
              <a:rPr lang="en-US" sz="1600" b="0">
                <a:solidFill>
                  <a:srgbClr val="1A1F2E"/>
                </a:solidFill>
                <a:latin typeface="Calibri"/>
                <a:ea typeface="Calibri"/>
              </a:rPr>
              <a:t>- HAM: Helpful, Accurate, Meaningful</a:t>
            </a:r>
          </a:p>
          <a:p xmlns:a="http://schemas.openxmlformats.org/drawingml/2006/main">
            <a:r>
              <a:rPr lang="en-US" sz="1600" b="0">
                <a:solidFill>
                  <a:srgbClr val="1A1F2E"/>
                </a:solidFill>
                <a:latin typeface="Calibri"/>
                <a:ea typeface="Calibri"/>
              </a:rPr>
              <a:t>- Auto-saves plans as .md files</a:t>
            </a:r>
          </a:p>
        </p:txBody>
      </p:sp>
      <p:sp>
        <p:nvSpPr>
          <p:cNvPr id="100012" name="KeyFacts"/>
          <p:cNvSpPr txBox="1"/>
          <p:nvPr/>
        </p:nvSpPr>
        <p:spPr>
          <a:xfrm xmlns:a="http://schemas.openxmlformats.org/drawingml/2006/main">
            <a:off x="540000" y="2952000"/>
            <a:ext cx="108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1A1F2E"/>
                </a:solidFill>
                <a:latin typeface="Calibri"/>
                <a:ea typeface="Calibri"/>
              </a:rPr>
              <a:t>Key Facts</a:t>
            </a:r>
          </a:p>
          <a:p xmlns:a="http://schemas.openxmlformats.org/drawingml/2006/main">
            <a:r>
              <a:rPr lang="en-US" sz="1600" b="0">
                <a:solidFill>
                  <a:srgbClr val="1A1F2E"/>
                </a:solidFill>
                <a:latin typeface="Calibri"/>
                <a:ea typeface="Calibri"/>
              </a:rPr>
              <a:t>  Model:  IBM Granite 3.3 8B Instruct</a:t>
            </a:r>
          </a:p>
          <a:p xmlns:a="http://schemas.openxmlformats.org/drawingml/2006/main">
            <a:r>
              <a:rPr lang="en-US" sz="1600" b="0">
                <a:solidFill>
                  <a:srgbClr val="1A1F2E"/>
                </a:solidFill>
                <a:latin typeface="Calibri"/>
                <a:ea typeface="Calibri"/>
              </a:rPr>
              <a:t>  Platform:  IBM Watsonx.ai</a:t>
            </a:r>
          </a:p>
          <a:p xmlns:a="http://schemas.openxmlformats.org/drawingml/2006/main">
            <a:r>
              <a:rPr lang="en-US" sz="1600" b="0">
                <a:solidFill>
                  <a:srgbClr val="1A1F2E"/>
                </a:solidFill>
                <a:latin typeface="Calibri"/>
                <a:ea typeface="Calibri"/>
              </a:rPr>
              <a:t>  Backend:  Python Flask</a:t>
            </a:r>
          </a:p>
          <a:p xmlns:a="http://schemas.openxmlformats.org/drawingml/2006/main">
            <a:r>
              <a:rPr lang="en-US" sz="1600" b="0">
                <a:solidFill>
                  <a:srgbClr val="1A1F2E"/>
                </a:solidFill>
                <a:latin typeface="Calibri"/>
                <a:ea typeface="Calibri"/>
              </a:rPr>
              <a:t>  Frontend:  HTML / CSS / JavaScript</a:t>
            </a:r>
          </a:p>
          <a:p xmlns:a="http://schemas.openxmlformats.org/drawingml/2006/main">
            <a:r>
              <a:rPr lang="en-US" sz="1600" b="0">
                <a:solidFill>
                  <a:srgbClr val="1A1F2E"/>
                </a:solidFill>
                <a:latin typeface="Calibri"/>
                <a:ea typeface="Calibri"/>
              </a:rPr>
              <a:t>  Export:  Markdown (.md) files</a:t>
            </a:r>
          </a:p>
          <a:p xmlns:a="http://schemas.openxmlformats.org/drawingml/2006/main">
            <a:r>
              <a:rPr lang="en-US" sz="1600" b="0">
                <a:solidFill>
                  <a:srgbClr val="1A1F2E"/>
                </a:solidFill>
                <a:latin typeface="Calibri"/>
                <a:ea typeface="Calibri"/>
              </a:rPr>
              <a:t>  Launch:  One-click run.bat</a:t>
            </a:r>
          </a:p>
        </p:txBody>
      </p:sp>
      <p:sp>
        <p:nvSpPr>
          <p:cNvPr id="100013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14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A8C8FF"/>
                </a:solidFill>
              </a:rPr>
              <a:t>NutriGuide Agentic AI  |  IBM Granite</a:t>
            </a:r>
          </a:p>
        </p:txBody>
      </p:sp>
      <p:sp>
        <p:nvSpPr>
          <p:cNvPr id="100015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A2342"/>
                </a:solidFill>
                <a:latin typeface="Calibri"/>
                <a:ea typeface="Calibri"/>
              </a:rPr>
              <a:t>Agentic AI SDLC — 8 Phases</a:t>
            </a:r>
          </a:p>
        </p:txBody>
      </p:sp>
      <p:sp>
        <p:nvSpPr>
          <p:cNvPr id="100016" name="Accent"/>
          <p:cNvSpPr txBox="1"/>
          <p:nvPr/>
        </p:nvSpPr>
        <p:spPr>
          <a:xfrm xmlns:a="http://schemas.openxmlformats.org/drawingml/2006/main">
            <a:off x="540000" y="900000"/>
            <a:ext cx="14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62FE"/>
              </a:solidFill>
            </a:endParaRPr>
          </a:p>
        </p:txBody>
      </p:sp>
      <p:sp>
        <p:nvSpPr>
          <p:cNvPr id="100017" name="P1"/>
          <p:cNvSpPr txBox="1"/>
          <p:nvPr/>
        </p:nvSpPr>
        <p:spPr>
          <a:xfrm xmlns:a="http://schemas.openxmlformats.org/drawingml/2006/main">
            <a:off x="540000" y="1008000"/>
            <a:ext cx="52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1F2E"/>
                </a:solidFill>
                <a:latin typeface="Calibri"/>
                <a:ea typeface="Calibri"/>
              </a:rPr>
              <a:t>1. Requirements</a:t>
            </a:r>
          </a:p>
          <a:p xmlns:a="http://schemas.openxmlformats.org/drawingml/2006/main">
            <a:r>
              <a:rPr lang="en-US" sz="1500" b="0">
                <a:solidFill>
                  <a:srgbClr val="1A1F2E"/>
                </a:solidFill>
                <a:latin typeface="Calibri"/>
                <a:ea typeface="Calibri"/>
              </a:rPr>
              <a:t>User profiles, LLM selection, ethics framework defined</a:t>
            </a:r>
          </a:p>
        </p:txBody>
      </p:sp>
      <p:sp>
        <p:nvSpPr>
          <p:cNvPr id="100018" name="P2"/>
          <p:cNvSpPr txBox="1"/>
          <p:nvPr/>
        </p:nvSpPr>
        <p:spPr>
          <a:xfrm xmlns:a="http://schemas.openxmlformats.org/drawingml/2006/main">
            <a:off x="6120000" y="1008000"/>
            <a:ext cx="52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1F2E"/>
                </a:solidFill>
                <a:latin typeface="Calibri"/>
                <a:ea typeface="Calibri"/>
              </a:rPr>
              <a:t>2. Architecture</a:t>
            </a:r>
          </a:p>
          <a:p xmlns:a="http://schemas.openxmlformats.org/drawingml/2006/main">
            <a:r>
              <a:rPr lang="en-US" sz="1500" b="0">
                <a:solidFill>
                  <a:srgbClr val="1A1F2E"/>
                </a:solidFill>
                <a:latin typeface="Calibri"/>
                <a:ea typeface="Calibri"/>
              </a:rPr>
              <a:t>Flask + IBM Granite via Watsonx.ai REST API</a:t>
            </a:r>
          </a:p>
        </p:txBody>
      </p:sp>
      <p:sp>
        <p:nvSpPr>
          <p:cNvPr id="100019" name="P3"/>
          <p:cNvSpPr txBox="1"/>
          <p:nvPr/>
        </p:nvSpPr>
        <p:spPr>
          <a:xfrm xmlns:a="http://schemas.openxmlformats.org/drawingml/2006/main">
            <a:off x="540000" y="1980000"/>
            <a:ext cx="52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A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1F2E"/>
                </a:solidFill>
                <a:latin typeface="Calibri"/>
                <a:ea typeface="Calibri"/>
              </a:rPr>
              <a:t>3. Agent Design</a:t>
            </a:r>
          </a:p>
          <a:p xmlns:a="http://schemas.openxmlformats.org/drawingml/2006/main">
            <a:r>
              <a:rPr lang="en-US" sz="1500" b="0">
                <a:solidFill>
                  <a:srgbClr val="1A1F2E"/>
                </a:solidFill>
                <a:latin typeface="Calibri"/>
                <a:ea typeface="Calibri"/>
              </a:rPr>
              <a:t>Multi-turn Q&amp;A, guardrails pipeline, prompt engineering</a:t>
            </a:r>
          </a:p>
        </p:txBody>
      </p:sp>
      <p:sp>
        <p:nvSpPr>
          <p:cNvPr id="100020" name="P4"/>
          <p:cNvSpPr txBox="1"/>
          <p:nvPr/>
        </p:nvSpPr>
        <p:spPr>
          <a:xfrm xmlns:a="http://schemas.openxmlformats.org/drawingml/2006/main">
            <a:off x="6120000" y="1980000"/>
            <a:ext cx="52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1F2E"/>
                </a:solidFill>
                <a:latin typeface="Calibri"/>
                <a:ea typeface="Calibri"/>
              </a:rPr>
              <a:t>4. Development</a:t>
            </a:r>
          </a:p>
          <a:p xmlns:a="http://schemas.openxmlformats.org/drawingml/2006/main">
            <a:r>
              <a:rPr lang="en-US" sz="1500" b="0">
                <a:solidFill>
                  <a:srgbClr val="1A1F2E"/>
                </a:solidFill>
                <a:latin typeface="Calibri"/>
                <a:ea typeface="Calibri"/>
              </a:rPr>
              <a:t>Backend agent, SPA frontend, Markdown export</a:t>
            </a:r>
          </a:p>
        </p:txBody>
      </p:sp>
      <p:sp>
        <p:nvSpPr>
          <p:cNvPr id="100021" name="P5"/>
          <p:cNvSpPr txBox="1"/>
          <p:nvPr/>
        </p:nvSpPr>
        <p:spPr>
          <a:xfrm xmlns:a="http://schemas.openxmlformats.org/drawingml/2006/main">
            <a:off x="540000" y="2952000"/>
            <a:ext cx="52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1F2E"/>
                </a:solidFill>
                <a:latin typeface="Calibri"/>
                <a:ea typeface="Calibri"/>
              </a:rPr>
              <a:t>5. Guardrails</a:t>
            </a:r>
          </a:p>
          <a:p xmlns:a="http://schemas.openxmlformats.org/drawingml/2006/main">
            <a:r>
              <a:rPr lang="en-US" sz="1500" b="0">
                <a:solidFill>
                  <a:srgbClr val="1A1F2E"/>
                </a:solidFill>
                <a:latin typeface="Calibri"/>
                <a:ea typeface="Calibri"/>
              </a:rPr>
              <a:t>Input validation, harmful content detection, disclaimers</a:t>
            </a:r>
          </a:p>
        </p:txBody>
      </p:sp>
      <p:sp>
        <p:nvSpPr>
          <p:cNvPr id="100022" name="P6"/>
          <p:cNvSpPr txBox="1"/>
          <p:nvPr/>
        </p:nvSpPr>
        <p:spPr>
          <a:xfrm xmlns:a="http://schemas.openxmlformats.org/drawingml/2006/main">
            <a:off x="6120000" y="2952000"/>
            <a:ext cx="52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1F2E"/>
                </a:solidFill>
                <a:latin typeface="Calibri"/>
                <a:ea typeface="Calibri"/>
              </a:rPr>
              <a:t>6. Testing</a:t>
            </a:r>
          </a:p>
          <a:p xmlns:a="http://schemas.openxmlformats.org/drawingml/2006/main">
            <a:r>
              <a:rPr lang="en-US" sz="1500" b="0">
                <a:solidFill>
                  <a:srgbClr val="1A1F2E"/>
                </a:solidFill>
                <a:latin typeface="Calibri"/>
                <a:ea typeface="Calibri"/>
              </a:rPr>
              <a:t>Edge cases, ethical red-teaming, demo mode fallback</a:t>
            </a:r>
          </a:p>
        </p:txBody>
      </p:sp>
      <p:sp>
        <p:nvSpPr>
          <p:cNvPr id="100023" name="P7"/>
          <p:cNvSpPr txBox="1"/>
          <p:nvPr/>
        </p:nvSpPr>
        <p:spPr>
          <a:xfrm xmlns:a="http://schemas.openxmlformats.org/drawingml/2006/main">
            <a:off x="540000" y="3924000"/>
            <a:ext cx="52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1F2E"/>
                </a:solidFill>
                <a:latin typeface="Calibri"/>
                <a:ea typeface="Calibri"/>
              </a:rPr>
              <a:t>7. Deployment</a:t>
            </a:r>
          </a:p>
          <a:p xmlns:a="http://schemas.openxmlformats.org/drawingml/2006/main">
            <a:r>
              <a:rPr lang="en-US" sz="1500" b="0">
                <a:solidFill>
                  <a:srgbClr val="1A1F2E"/>
                </a:solidFill>
                <a:latin typeface="Calibri"/>
                <a:ea typeface="Calibri"/>
              </a:rPr>
              <a:t>Local server with one-click run.bat launcher</a:t>
            </a:r>
          </a:p>
        </p:txBody>
      </p:sp>
      <p:sp>
        <p:nvSpPr>
          <p:cNvPr id="100024" name="P8"/>
          <p:cNvSpPr txBox="1"/>
          <p:nvPr/>
        </p:nvSpPr>
        <p:spPr>
          <a:xfrm xmlns:a="http://schemas.openxmlformats.org/drawingml/2006/main">
            <a:off x="6120000" y="3924000"/>
            <a:ext cx="52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A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1F2E"/>
                </a:solidFill>
                <a:latin typeface="Calibri"/>
                <a:ea typeface="Calibri"/>
              </a:rPr>
              <a:t>8. Monitoring</a:t>
            </a:r>
          </a:p>
          <a:p xmlns:a="http://schemas.openxmlformats.org/drawingml/2006/main">
            <a:r>
              <a:rPr lang="en-US" sz="1500" b="0">
                <a:solidFill>
                  <a:srgbClr val="1A1F2E"/>
                </a:solidFill>
                <a:latin typeface="Calibri"/>
                <a:ea typeface="Calibri"/>
              </a:rPr>
              <a:t>Request logging, plan export audit trail, health API</a:t>
            </a:r>
          </a:p>
        </p:txBody>
      </p:sp>
      <p:sp>
        <p:nvSpPr>
          <p:cNvPr id="100025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26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A8C8FF"/>
                </a:solidFill>
              </a:rPr>
              <a:t>NutriGuide Agentic AI  |  IBM Granite</a:t>
            </a:r>
          </a:p>
        </p:txBody>
      </p:sp>
      <p:sp>
        <p:nvSpPr>
          <p:cNvPr id="100027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A2342"/>
                </a:solidFill>
                <a:latin typeface="Calibri"/>
                <a:ea typeface="Calibri"/>
              </a:rPr>
              <a:t>System Architecture</a:t>
            </a:r>
          </a:p>
        </p:txBody>
      </p:sp>
      <p:sp>
        <p:nvSpPr>
          <p:cNvPr id="100028" name="Accent"/>
          <p:cNvSpPr txBox="1"/>
          <p:nvPr/>
        </p:nvSpPr>
        <p:spPr>
          <a:xfrm xmlns:a="http://schemas.openxmlformats.org/drawingml/2006/main">
            <a:off x="540000" y="900000"/>
            <a:ext cx="14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62FE"/>
              </a:solidFill>
            </a:endParaRPr>
          </a:p>
        </p:txBody>
      </p:sp>
      <p:sp>
        <p:nvSpPr>
          <p:cNvPr id="100029" name="Layer1"/>
          <p:cNvSpPr txBox="1"/>
          <p:nvPr/>
        </p:nvSpPr>
        <p:spPr>
          <a:xfrm xmlns:a="http://schemas.openxmlformats.org/drawingml/2006/main">
            <a:off x="720000" y="1008000"/>
            <a:ext cx="1062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BROWSER (Web UI)</a:t>
            </a:r>
          </a:p>
          <a:p xmlns:a="http://schemas.openxmlformats.org/drawingml/2006/main"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HTML + CSS + Vanilla JS  |  User Form  |  Marked.js Markdown Renderer  |  Fetch API</a:t>
            </a:r>
          </a:p>
        </p:txBody>
      </p:sp>
      <p:sp>
        <p:nvSpPr>
          <p:cNvPr id="100030" name="Arrow1"/>
          <p:cNvSpPr txBox="1"/>
          <p:nvPr/>
        </p:nvSpPr>
        <p:spPr>
          <a:xfrm xmlns:a="http://schemas.openxmlformats.org/drawingml/2006/main">
            <a:off x="5040000" y="1728000"/>
            <a:ext cx="1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F62FE"/>
                </a:solidFill>
                <a:latin typeface="Calibri"/>
                <a:ea typeface="Calibri"/>
              </a:rPr>
              <a:t>HTTP REST API</a:t>
            </a:r>
          </a:p>
        </p:txBody>
      </p:sp>
      <p:sp>
        <p:nvSpPr>
          <p:cNvPr id="100031" name="Layer2"/>
          <p:cNvSpPr txBox="1"/>
          <p:nvPr/>
        </p:nvSpPr>
        <p:spPr>
          <a:xfrm xmlns:a="http://schemas.openxmlformats.org/drawingml/2006/main">
            <a:off x="720000" y="2088000"/>
            <a:ext cx="1062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FLASK BACKEND (app.py)</a:t>
            </a:r>
          </a:p>
          <a:p xmlns:a="http://schemas.openxmlformats.org/drawingml/2006/main">
            <a:r>
              <a:rPr lang="en-US" sz="1500" b="0">
                <a:solidFill>
                  <a:srgbClr val="FFFFFF"/>
                </a:solidFill>
                <a:latin typeface="Calibri"/>
                <a:ea typeface="Calibri"/>
              </a:rPr>
              <a:t>Plan Agent  |  Q&amp;A Agent  |  Guardrails Module  |  Disclaimer Generator  |  .md File Export</a:t>
            </a:r>
          </a:p>
        </p:txBody>
      </p:sp>
      <p:sp>
        <p:nvSpPr>
          <p:cNvPr id="100032" name="GuardBox"/>
          <p:cNvSpPr txBox="1"/>
          <p:nvPr/>
        </p:nvSpPr>
        <p:spPr>
          <a:xfrm xmlns:a="http://schemas.openxmlformats.org/drawingml/2006/main">
            <a:off x="720000" y="2844000"/>
            <a:ext cx="32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  <a:latin typeface="Calibri"/>
                <a:ea typeface="Calibri"/>
              </a:rPr>
              <a:t>guardrails.py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  <a:latin typeface="Calibri"/>
                <a:ea typeface="Calibri"/>
              </a:rPr>
              <a:t>- Input validation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  <a:latin typeface="Calibri"/>
                <a:ea typeface="Calibri"/>
              </a:rPr>
              <a:t>- Harmful content check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  <a:latin typeface="Calibri"/>
                <a:ea typeface="Calibri"/>
              </a:rPr>
              <a:t>- HAM principles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  <a:latin typeface="Calibri"/>
                <a:ea typeface="Calibri"/>
              </a:rPr>
              <a:t>- Output sanitisation</a:t>
            </a:r>
          </a:p>
        </p:txBody>
      </p:sp>
      <p:sp>
        <p:nvSpPr>
          <p:cNvPr id="100033" name="DisclBox"/>
          <p:cNvSpPr txBox="1"/>
          <p:nvPr/>
        </p:nvSpPr>
        <p:spPr>
          <a:xfrm xmlns:a="http://schemas.openxmlformats.org/drawingml/2006/main">
            <a:off x="4428000" y="2844000"/>
            <a:ext cx="32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  <a:latin typeface="Calibri"/>
                <a:ea typeface="Calibri"/>
              </a:rPr>
              <a:t>disclaimer.py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  <a:latin typeface="Calibri"/>
                <a:ea typeface="Calibri"/>
              </a:rPr>
              <a:t>- Medical disclaimer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  <a:latin typeface="Calibri"/>
                <a:ea typeface="Calibri"/>
              </a:rPr>
              <a:t>- Condition-specific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  <a:latin typeface="Calibri"/>
                <a:ea typeface="Calibri"/>
              </a:rPr>
              <a:t>- Q&amp;A disclaimers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  <a:latin typeface="Calibri"/>
                <a:ea typeface="Calibri"/>
              </a:rPr>
              <a:t>- WHO / FDA aligned</a:t>
            </a:r>
          </a:p>
        </p:txBody>
      </p:sp>
      <p:sp>
        <p:nvSpPr>
          <p:cNvPr id="100034" name="PlansBox"/>
          <p:cNvSpPr txBox="1"/>
          <p:nvPr/>
        </p:nvSpPr>
        <p:spPr>
          <a:xfrm xmlns:a="http://schemas.openxmlformats.org/drawingml/2006/main">
            <a:off x="8100000" y="2844000"/>
            <a:ext cx="324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A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  <a:latin typeface="Calibri"/>
                <a:ea typeface="Calibri"/>
              </a:rPr>
              <a:t>plans/ (.md Export)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  <a:latin typeface="Calibri"/>
                <a:ea typeface="Calibri"/>
              </a:rPr>
              <a:t>- Auto-saved per request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  <a:latin typeface="Calibri"/>
                <a:ea typeface="Calibri"/>
              </a:rPr>
              <a:t>- YAML frontmatter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  <a:latin typeface="Calibri"/>
                <a:ea typeface="Calibri"/>
              </a:rPr>
              <a:t>- Download via API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  <a:latin typeface="Calibri"/>
                <a:ea typeface="Calibri"/>
              </a:rPr>
              <a:t>- Timestamped files</a:t>
            </a:r>
          </a:p>
        </p:txBody>
      </p:sp>
      <p:sp>
        <p:nvSpPr>
          <p:cNvPr id="100035" name="Arrow2"/>
          <p:cNvSpPr txBox="1"/>
          <p:nvPr/>
        </p:nvSpPr>
        <p:spPr>
          <a:xfrm xmlns:a="http://schemas.openxmlformats.org/drawingml/2006/main">
            <a:off x="4680000" y="4212000"/>
            <a:ext cx="25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6929C4"/>
                </a:solidFill>
                <a:latin typeface="Calibri"/>
                <a:ea typeface="Calibri"/>
              </a:rPr>
              <a:t>ibm-watsonx-ai SDK</a:t>
            </a:r>
          </a:p>
        </p:txBody>
      </p:sp>
      <p:sp>
        <p:nvSpPr>
          <p:cNvPr id="100036" name="Layer3"/>
          <p:cNvSpPr txBox="1"/>
          <p:nvPr/>
        </p:nvSpPr>
        <p:spPr>
          <a:xfrm xmlns:a="http://schemas.openxmlformats.org/drawingml/2006/main">
            <a:off x="720000" y="4572000"/>
            <a:ext cx="1062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29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FFFFF"/>
                </a:solidFill>
                <a:latin typeface="Calibri"/>
                <a:ea typeface="Calibri"/>
              </a:rPr>
              <a:t>IBM WATSONX.AI CLOUD  |  Model: ibm/granite-3-3-8b-instruct  |  Max 2048 tokens  |  Temperature 0.7</a:t>
            </a:r>
          </a:p>
        </p:txBody>
      </p:sp>
      <p:sp>
        <p:nvSpPr>
          <p:cNvPr id="100037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8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8C8FF"/>
                </a:solidFill>
              </a:rPr>
              <a:t>NutriGuide Agentic AI  |  IBM Granite</a:t>
            </a:r>
          </a:p>
        </p:txBody>
      </p:sp>
      <p:sp>
        <p:nvSpPr>
          <p:cNvPr id="100039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A2342"/>
                </a:solidFill>
                <a:latin typeface="Calibri"/>
                <a:ea typeface="Calibri"/>
              </a:rPr>
              <a:t>Key Features</a:t>
            </a:r>
          </a:p>
        </p:txBody>
      </p:sp>
      <p:sp>
        <p:nvSpPr>
          <p:cNvPr id="100040" name="Accent"/>
          <p:cNvSpPr txBox="1"/>
          <p:nvPr/>
        </p:nvSpPr>
        <p:spPr>
          <a:xfrm xmlns:a="http://schemas.openxmlformats.org/drawingml/2006/main">
            <a:off x="540000" y="900000"/>
            <a:ext cx="14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62FE"/>
              </a:solidFill>
            </a:endParaRPr>
          </a:p>
        </p:txBody>
      </p:sp>
      <p:sp>
        <p:nvSpPr>
          <p:cNvPr id="100041" name="F1"/>
          <p:cNvSpPr txBox="1"/>
          <p:nvPr/>
        </p:nvSpPr>
        <p:spPr>
          <a:xfrm xmlns:a="http://schemas.openxmlformats.org/drawingml/2006/main">
            <a:off x="540000" y="1008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IBM Granite LLM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ibm/granite-3-3-8b-instruct via Watsonx.ai</a:t>
            </a:r>
          </a:p>
        </p:txBody>
      </p:sp>
      <p:sp>
        <p:nvSpPr>
          <p:cNvPr id="100042" name="F2"/>
          <p:cNvSpPr txBox="1"/>
          <p:nvPr/>
        </p:nvSpPr>
        <p:spPr>
          <a:xfrm xmlns:a="http://schemas.openxmlformats.org/drawingml/2006/main">
            <a:off x="4320000" y="1008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User Profiling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Name, age, diet type, medical history, location</a:t>
            </a:r>
          </a:p>
        </p:txBody>
      </p:sp>
      <p:sp>
        <p:nvSpPr>
          <p:cNvPr id="100043" name="F3"/>
          <p:cNvSpPr txBox="1"/>
          <p:nvPr/>
        </p:nvSpPr>
        <p:spPr>
          <a:xfrm xmlns:a="http://schemas.openxmlformats.org/drawingml/2006/main">
            <a:off x="8100000" y="1008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A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7-Day Meal Plans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Breakfast, lunch, dinner &amp; snack for each day</a:t>
            </a:r>
          </a:p>
        </p:txBody>
      </p:sp>
      <p:sp>
        <p:nvSpPr>
          <p:cNvPr id="100044" name="F4"/>
          <p:cNvSpPr txBox="1"/>
          <p:nvPr/>
        </p:nvSpPr>
        <p:spPr>
          <a:xfrm xmlns:a="http://schemas.openxmlformats.org/drawingml/2006/main">
            <a:off x="540000" y="2232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Ethical Guardrails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Input validation, harmful keyword blocking, output scan</a:t>
            </a:r>
          </a:p>
        </p:txBody>
      </p:sp>
      <p:sp>
        <p:nvSpPr>
          <p:cNvPr id="100045" name="F5"/>
          <p:cNvSpPr txBox="1"/>
          <p:nvPr/>
        </p:nvSpPr>
        <p:spPr>
          <a:xfrm xmlns:a="http://schemas.openxmlformats.org/drawingml/2006/main">
            <a:off x="4320000" y="2232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Q&amp;A Agent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Context-aware nutrition Q&amp;A with user profile</a:t>
            </a:r>
          </a:p>
        </p:txBody>
      </p:sp>
      <p:sp>
        <p:nvSpPr>
          <p:cNvPr id="100046" name="F6"/>
          <p:cNvSpPr txBox="1"/>
          <p:nvPr/>
        </p:nvSpPr>
        <p:spPr>
          <a:xfrm xmlns:a="http://schemas.openxmlformats.org/drawingml/2006/main">
            <a:off x="8100000" y="2232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Markdown Export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Auto-saves plan as .md with YAML frontmatter</a:t>
            </a:r>
          </a:p>
        </p:txBody>
      </p:sp>
      <p:sp>
        <p:nvSpPr>
          <p:cNvPr id="100047" name="F7"/>
          <p:cNvSpPr txBox="1"/>
          <p:nvPr/>
        </p:nvSpPr>
        <p:spPr>
          <a:xfrm xmlns:a="http://schemas.openxmlformats.org/drawingml/2006/main">
            <a:off x="540000" y="3456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HAM Principles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Helpful · Accurate · Meaningful AI responses</a:t>
            </a:r>
          </a:p>
        </p:txBody>
      </p:sp>
      <p:sp>
        <p:nvSpPr>
          <p:cNvPr id="100048" name="F8"/>
          <p:cNvSpPr txBox="1"/>
          <p:nvPr/>
        </p:nvSpPr>
        <p:spPr>
          <a:xfrm xmlns:a="http://schemas.openxmlformats.org/drawingml/2006/main">
            <a:off x="4320000" y="3456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A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Medical Disclaimers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Condition-specific, WHO/FDA-aligned safety notices</a:t>
            </a:r>
          </a:p>
        </p:txBody>
      </p:sp>
      <p:sp>
        <p:nvSpPr>
          <p:cNvPr id="100049" name="F9"/>
          <p:cNvSpPr txBox="1"/>
          <p:nvPr/>
        </p:nvSpPr>
        <p:spPr>
          <a:xfrm xmlns:a="http://schemas.openxmlformats.org/drawingml/2006/main">
            <a:off x="8100000" y="3456000"/>
            <a:ext cx="342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Demo Mode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Fully functional without API key — no setup barrier</a:t>
            </a:r>
          </a:p>
        </p:txBody>
      </p:sp>
      <p:sp>
        <p:nvSpPr>
          <p:cNvPr id="100050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2342"/>
        </a:solidFill>
      </p:bgPr>
    </p:bg>
    <p:spTree>
      <p:nvGrpSpPr>
        <p:cNvPr id="1" name=""/>
        <p:cNvGrpSpPr/>
        <p:nvPr/>
      </p:nvGrpSpPr>
      <p:grpSpPr/>
      <p:sp>
        <p:nvSpPr>
          <p:cNvPr id="100051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NutriGuide Agentic AI  |  IBM Granite</a:t>
            </a:r>
          </a:p>
        </p:txBody>
      </p:sp>
      <p:sp>
        <p:nvSpPr>
          <p:cNvPr id="100052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Web Application UI — Screenshots</a:t>
            </a:r>
          </a:p>
        </p:txBody>
      </p:sp>
      <p:sp>
        <p:nvSpPr>
          <p:cNvPr id="100053" name="Accent"/>
          <p:cNvSpPr txBox="1"/>
          <p:nvPr/>
        </p:nvSpPr>
        <p:spPr>
          <a:xfrm xmlns:a="http://schemas.openxmlformats.org/drawingml/2006/main">
            <a:off x="540000" y="900000"/>
            <a:ext cx="14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62FE"/>
              </a:solidFill>
            </a:endParaRPr>
          </a:p>
        </p:txBody>
      </p:sp>
      <p:sp>
        <p:nvSpPr>
          <p:cNvPr id="100054" name="Screen1"/>
          <p:cNvSpPr txBox="1"/>
          <p:nvPr/>
        </p:nvSpPr>
        <p:spPr>
          <a:xfrm xmlns:a="http://schemas.openxmlformats.org/drawingml/2006/main">
            <a:off x="540000" y="1008000"/>
            <a:ext cx="1080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SCREEN 1 — Home Page &amp; Profile Form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  Header: NutriGuide AI  |  IBM Granite 3.3  |  Watsonx.ai  |  Ethical AI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  Left Panel — User Profile Form: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    - Full Name (text input)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    - Age (number input, 5-110)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    - Diet Preference (dropdown: Vegetarian / Non-Veg / Vegan / Pescatarian)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    - Medical History (textarea)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    - City + Country (side by side)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    - [Generate My Nutrition Plan] button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    - LLM status indicator (Connected / Demo Mode)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  Right Panel — Welcome State: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    - Tabs: Nutrition Plan  |  Ask NutriGuide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    - Feature cards: 7-Day Plan, Macros, Grocery List, Hydration, Download .md</a:t>
            </a:r>
          </a:p>
        </p:txBody>
      </p:sp>
      <p:sp>
        <p:nvSpPr>
          <p:cNvPr id="100055" name="URL"/>
          <p:cNvSpPr txBox="1"/>
          <p:nvPr/>
        </p:nvSpPr>
        <p:spPr>
          <a:xfrm xmlns:a="http://schemas.openxmlformats.org/drawingml/2006/main">
            <a:off x="540000" y="5112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9EF0AC"/>
                </a:solidFill>
              </a:rPr>
              <a:t>http://localhost:5000  |  Flask Development Server  |  Demo Mode Active</a:t>
            </a:r>
          </a:p>
        </p:txBody>
      </p:sp>
      <p:sp>
        <p:nvSpPr>
          <p:cNvPr id="100056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2342"/>
        </a:solidFill>
      </p:bgPr>
    </p:bg>
    <p:spTree>
      <p:nvGrpSpPr>
        <p:cNvPr id="1" name=""/>
        <p:cNvGrpSpPr/>
        <p:nvPr/>
      </p:nvGrpSpPr>
      <p:grpSpPr/>
      <p:sp>
        <p:nvSpPr>
          <p:cNvPr id="100057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NutriGuide Agentic AI  |  IBM Granite</a:t>
            </a:r>
          </a:p>
        </p:txBody>
      </p:sp>
      <p:sp>
        <p:nvSpPr>
          <p:cNvPr id="100058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Screenshot — Generating a Nutrition Plan</a:t>
            </a:r>
          </a:p>
        </p:txBody>
      </p:sp>
      <p:sp>
        <p:nvSpPr>
          <p:cNvPr id="100059" name="FormPanel"/>
          <p:cNvSpPr txBox="1"/>
          <p:nvPr/>
        </p:nvSpPr>
        <p:spPr>
          <a:xfrm xmlns:a="http://schemas.openxmlformats.org/drawingml/2006/main">
            <a:off x="540000" y="900000"/>
            <a:ext cx="468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>USER PROFILE FORM (Left Panel)</a:t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>Full Name:          Priya Sharma</a:t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>Age:                35</a:t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>Diet Preference:    Vegetarian</a:t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>Medical History:    Type 2 diabetes</a:t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>City:               Mumbai</a:t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>Country:            India</a:t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>[  Generate My Nutrition Plan  ]</a:t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>Status: IBM Granite connected (Watsonx.ai)</a:t>
            </a:r>
          </a:p>
        </p:txBody>
      </p:sp>
      <p:sp>
        <p:nvSpPr>
          <p:cNvPr id="100060" name="LoadingPanel"/>
          <p:cNvSpPr txBox="1"/>
          <p:nvPr/>
        </p:nvSpPr>
        <p:spPr>
          <a:xfrm xmlns:a="http://schemas.openxmlformats.org/drawingml/2006/main">
            <a:off x="5580000" y="900000"/>
            <a:ext cx="576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6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>PLAN GENERATION (Right Panel)</a:t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>          [  Spinner Animation  ]</a:t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>   IBM Granite is crafting your</a:t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>   personalized plan...</a:t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>   This may take a few seconds</a:t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>Model: IBM Granite 3.3 8B Instruct</a:t>
            </a:r>
          </a:p>
          <a:p xmlns:a="http://schemas.openxmlformats.org/drawingml/2006/main">
            <a:r>
              <a:rPr lang="en-US" sz="1400" b="0">
                <a:solidFill>
                  <a:srgbClr val="A8C8FF"/>
                </a:solidFill>
              </a:rPr>
              <a:t>Platform: Watsonx.ai</a:t>
            </a:r>
          </a:p>
        </p:txBody>
      </p:sp>
      <p:sp>
        <p:nvSpPr>
          <p:cNvPr id="100061" name="FlowNote"/>
          <p:cNvSpPr txBox="1"/>
          <p:nvPr/>
        </p:nvSpPr>
        <p:spPr>
          <a:xfrm xmlns:a="http://schemas.openxmlformats.org/drawingml/2006/main">
            <a:off x="540000" y="504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9EF0AC"/>
                </a:solidFill>
              </a:rPr>
              <a:t>Agent Flow:  Form Submit  →  Input Validation  →  Guardrails Check  →  Granite Prompt  →  Plan Generation  →  .md Save  →  Render</a:t>
            </a:r>
          </a:p>
        </p:txBody>
      </p:sp>
      <p:sp>
        <p:nvSpPr>
          <p:cNvPr id="100062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63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8C8FF"/>
                </a:solidFill>
              </a:rPr>
              <a:t>NutriGuide Agentic AI  |  IBM Granite</a:t>
            </a:r>
          </a:p>
        </p:txBody>
      </p:sp>
      <p:sp>
        <p:nvSpPr>
          <p:cNvPr id="100064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0A2342"/>
                </a:solidFill>
                <a:latin typeface="Calibri"/>
                <a:ea typeface="Calibri"/>
              </a:rPr>
              <a:t>Screenshot — Generated Nutrition Plan Output</a:t>
            </a:r>
          </a:p>
        </p:txBody>
      </p:sp>
      <p:sp>
        <p:nvSpPr>
          <p:cNvPr id="100065" name="MetaBar"/>
          <p:cNvSpPr txBox="1"/>
          <p:nvPr/>
        </p:nvSpPr>
        <p:spPr>
          <a:xfrm xmlns:a="http://schemas.openxmlformats.org/drawingml/2006/main">
            <a:off x="540000" y="900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0043A8"/>
                </a:solidFill>
              </a:rPr>
              <a:t>  Priya Sharma  35yrs  Vegetarian    Mumbai, India    IBM Granite 3.3 8B Instruct    Generated: 15 Jan 2024    High-risk: diabetes</a:t>
            </a:r>
          </a:p>
        </p:txBody>
      </p:sp>
      <p:sp>
        <p:nvSpPr>
          <p:cNvPr id="100066" name="ActionBar"/>
          <p:cNvSpPr txBox="1"/>
          <p:nvPr/>
        </p:nvSpPr>
        <p:spPr>
          <a:xfrm xmlns:a="http://schemas.openxmlformats.org/drawingml/2006/main">
            <a:off x="540000" y="1260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[ Download Plan (.md) ]     [ Copy to Clipboard ]     [ New Plan ]</a:t>
            </a:r>
          </a:p>
        </p:txBody>
      </p:sp>
      <p:sp>
        <p:nvSpPr>
          <p:cNvPr id="100067" name="PlanContent"/>
          <p:cNvSpPr txBox="1"/>
          <p:nvPr/>
        </p:nvSpPr>
        <p:spPr>
          <a:xfrm xmlns:a="http://schemas.openxmlformats.org/drawingml/2006/main">
            <a:off x="540000" y="1656000"/>
            <a:ext cx="10800000" cy="32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Personalized 7-Day Nutrition Plan for Priya Sharma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Generated by NutriGuide AI | January 15, 2024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Location: Mumbai, India | Diet: Vegetarian | Age: 35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DAILY NUTRITIONAL TARGETS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Calories: ~2000 kcal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Protein: 100g (20%)    Carbohydrates: 250g (50%)    Healthy Fats: 67g (30%)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Fiber: 25-38g          Water: 8-10 glasses/day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DIETARY NOTES (Diabetes Management)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Limit refined sugars, white bread, high-GI foods. Prefer complex carbohydrates.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7-DAY MEAL PLAN (Day 1 - Monday)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Breakfast: Oatmeal with banana, nuts &amp; low-fat milk (~350 kcal)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Lunch:     Lentil soup + whole wheat roti + mixed salad (~500 kcal)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Snack:     Apple + handful of almonds (~200 kcal)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Dinner:    Grilled vegetables + brown rice + dal (~550 kcal)</a:t>
            </a:r>
          </a:p>
        </p:txBody>
      </p:sp>
      <p:sp>
        <p:nvSpPr>
          <p:cNvPr id="100068" name="DisclBox"/>
          <p:cNvSpPr txBox="1"/>
          <p:nvPr/>
        </p:nvSpPr>
        <p:spPr>
          <a:xfrm xmlns:a="http://schemas.openxmlformats.org/drawingml/2006/main">
            <a:off x="540000" y="4968000"/>
            <a:ext cx="108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5A4000"/>
                </a:solidFill>
              </a:rPr>
              <a:t>Medical Disclaimer:  This plan is for informational purposes only. NOT medical advice. Consult your physician before dietary changes. (Diabetes: specialist supervision required.)</a:t>
            </a:r>
          </a:p>
        </p:txBody>
      </p:sp>
      <p:sp>
        <p:nvSpPr>
          <p:cNvPr id="100069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70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8C8FF"/>
                </a:solidFill>
              </a:rPr>
              <a:t>NutriGuide Agentic AI  |  IBM Granite</a:t>
            </a:r>
          </a:p>
        </p:txBody>
      </p:sp>
      <p:sp>
        <p:nvSpPr>
          <p:cNvPr id="100071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A2342"/>
                </a:solidFill>
                <a:latin typeface="Calibri"/>
                <a:ea typeface="Calibri"/>
              </a:rPr>
              <a:t>Sample Nutrition Plan — .md File Output</a:t>
            </a:r>
          </a:p>
        </p:txBody>
      </p:sp>
      <p:sp>
        <p:nvSpPr>
          <p:cNvPr id="100072" name="Accent"/>
          <p:cNvSpPr txBox="1"/>
          <p:nvPr/>
        </p:nvSpPr>
        <p:spPr>
          <a:xfrm xmlns:a="http://schemas.openxmlformats.org/drawingml/2006/main">
            <a:off x="540000" y="900000"/>
            <a:ext cx="14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62FE"/>
              </a:solidFill>
            </a:endParaRPr>
          </a:p>
        </p:txBody>
      </p:sp>
      <p:sp>
        <p:nvSpPr>
          <p:cNvPr id="100073" name="MDHeader"/>
          <p:cNvSpPr txBox="1"/>
          <p:nvPr/>
        </p:nvSpPr>
        <p:spPr>
          <a:xfrm xmlns:a="http://schemas.openxmlformats.org/drawingml/2006/main">
            <a:off x="540000" y="972000"/>
            <a:ext cx="10800000" cy="25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6929C4"/>
                </a:solidFill>
              </a:rPr>
              <a:t>File: plans/PriyaSharma_20240115_103000_nutrition_plan.md</a:t>
            </a:r>
          </a:p>
        </p:txBody>
      </p:sp>
      <p:sp>
        <p:nvSpPr>
          <p:cNvPr id="100074" name="FrontMatter"/>
          <p:cNvSpPr txBox="1"/>
          <p:nvPr/>
        </p:nvSpPr>
        <p:spPr>
          <a:xfrm xmlns:a="http://schemas.openxmlformats.org/drawingml/2006/main">
            <a:off x="540000" y="1260000"/>
            <a:ext cx="108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--- YAML Frontmatter ---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title:     "Nutrition Plan for Priya Sharma"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generated: "2024-01-15 10:30:00"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model:     "IBM Granite 3.3 8B Instruct (ibm/granite-3-3-8b-instruct)"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app:       "NutriGuide Agentic AI"</a:t>
            </a:r>
          </a:p>
        </p:txBody>
      </p:sp>
      <p:sp>
        <p:nvSpPr>
          <p:cNvPr id="100075" name="MacroTable"/>
          <p:cNvSpPr txBox="1"/>
          <p:nvPr/>
        </p:nvSpPr>
        <p:spPr>
          <a:xfrm xmlns:a="http://schemas.openxmlformats.org/drawingml/2006/main">
            <a:off x="540000" y="2232000"/>
            <a:ext cx="522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Daily Nutritional Targets (from .md file)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Nutrient             Daily Target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─────────────────────────────────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Calories             ~2000 kcal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Protein              100g  (20% of calories)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Carbohydrates        250g  (50% of calories)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Healthy Fats          67g  (30% of calories)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Fiber                25-38g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Water                8-10 glasses/day</a:t>
            </a:r>
          </a:p>
        </p:txBody>
      </p:sp>
      <p:sp>
        <p:nvSpPr>
          <p:cNvPr id="100076" name="MealTable"/>
          <p:cNvSpPr txBox="1"/>
          <p:nvPr/>
        </p:nvSpPr>
        <p:spPr>
          <a:xfrm xmlns:a="http://schemas.openxmlformats.org/drawingml/2006/main">
            <a:off x="5940000" y="2232000"/>
            <a:ext cx="5400000" cy="21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A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7-Day Meal Plan — Day 1 (Monday)  [from .md file]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Meal        Food                                  kcal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Breakfast   Oatmeal + banana + nuts + milk        ~350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Lunch       Lentil soup + wheat roti + salad      ~500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Snack       Apple + almonds                       ~200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Dinner      Grilled veg + brown rice + dal        ~550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Day Total                                        ~1600 kcal</a:t>
            </a:r>
          </a:p>
        </p:txBody>
      </p:sp>
      <p:sp>
        <p:nvSpPr>
          <p:cNvPr id="100077" name="SaveNote"/>
          <p:cNvSpPr txBox="1"/>
          <p:nvPr/>
        </p:nvSpPr>
        <p:spPr>
          <a:xfrm xmlns:a="http://schemas.openxmlformats.org/drawingml/2006/main">
            <a:off x="540000" y="4500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0043A8"/>
                </a:solidFill>
              </a:rPr>
              <a:t>Plans are auto-saved on every generation  |  Download via API: GET /api/download-plan/&lt;filename&gt;  |  YAML frontmatter included</a:t>
            </a:r>
          </a:p>
        </p:txBody>
      </p:sp>
      <p:sp>
        <p:nvSpPr>
          <p:cNvPr id="100078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2342"/>
        </a:solidFill>
      </p:bgPr>
    </p:bg>
    <p:spTree>
      <p:nvGrpSpPr>
        <p:cNvPr id="1" name=""/>
        <p:cNvGrpSpPr/>
        <p:nvPr/>
      </p:nvGrpSpPr>
      <p:grpSpPr/>
      <p:sp>
        <p:nvSpPr>
          <p:cNvPr id="100079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FFFFF"/>
                </a:solidFill>
              </a:rPr>
              <a:t>NutriGuide Agentic AI  |  IBM Granite</a:t>
            </a:r>
          </a:p>
        </p:txBody>
      </p:sp>
      <p:sp>
        <p:nvSpPr>
          <p:cNvPr id="100080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  <a:latin typeface="Calibri"/>
                <a:ea typeface="Calibri"/>
              </a:rPr>
              <a:t>Screenshot — Ask NutriGuide Q&amp;A Agent</a:t>
            </a:r>
          </a:p>
        </p:txBody>
      </p:sp>
      <p:sp>
        <p:nvSpPr>
          <p:cNvPr id="100081" name="QAHeader"/>
          <p:cNvSpPr txBox="1"/>
          <p:nvPr/>
        </p:nvSpPr>
        <p:spPr>
          <a:xfrm xmlns:a="http://schemas.openxmlformats.org/drawingml/2006/main">
            <a:off x="540000" y="900000"/>
            <a:ext cx="108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9EF0AC"/>
                </a:solidFill>
              </a:rPr>
              <a:t>Tab: Ask NutriGuide  |  IBM Granite answers nutrition questions in context of user profile</a:t>
            </a:r>
          </a:p>
        </p:txBody>
      </p:sp>
      <p:sp>
        <p:nvSpPr>
          <p:cNvPr id="100082" name="Chips"/>
          <p:cNvSpPr txBox="1"/>
          <p:nvPr/>
        </p:nvSpPr>
        <p:spPr>
          <a:xfrm xmlns:a="http://schemas.openxmlformats.org/drawingml/2006/main">
            <a:off x="540000" y="1260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6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A8C8FF"/>
                </a:solidFill>
              </a:rPr>
              <a:t>Quick Questions:  [ Protein sources ]  [ Daily water intake ]  [ Vitamins &amp; supplements ]  [ Weight management ]  [ Foods to avoid ]  [ Healthy snacks ]</a:t>
            </a:r>
          </a:p>
        </p:txBody>
      </p:sp>
      <p:sp>
        <p:nvSpPr>
          <p:cNvPr id="100083" name="InputArea"/>
          <p:cNvSpPr txBox="1"/>
          <p:nvPr/>
        </p:nvSpPr>
        <p:spPr>
          <a:xfrm xmlns:a="http://schemas.openxmlformats.org/drawingml/2006/main">
            <a:off x="540000" y="1692000"/>
            <a:ext cx="108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346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Input Box: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"What are the best protein sources for a vegetarian with diabetes?"</a:t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FFFFFF"/>
                </a:solidFill>
              </a:rPr>
              <a:t>                              [ Ask IBM Granite ]        Ctrl+Enter to submit</a:t>
            </a:r>
          </a:p>
        </p:txBody>
      </p:sp>
      <p:sp>
        <p:nvSpPr>
          <p:cNvPr id="100084" name="Q1"/>
          <p:cNvSpPr txBox="1"/>
          <p:nvPr/>
        </p:nvSpPr>
        <p:spPr>
          <a:xfrm xmlns:a="http://schemas.openxmlformats.org/drawingml/2006/main">
            <a:off x="540000" y="2520000"/>
            <a:ext cx="10800000" cy="3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FFFFFF"/>
                </a:solidFill>
              </a:rPr>
              <a:t>Q: What are the best protein sources for a vegetarian?</a:t>
            </a:r>
          </a:p>
        </p:txBody>
      </p:sp>
      <p:sp>
        <p:nvSpPr>
          <p:cNvPr id="100085" name="A1"/>
          <p:cNvSpPr txBox="1"/>
          <p:nvPr/>
        </p:nvSpPr>
        <p:spPr>
          <a:xfrm xmlns:a="http://schemas.openxmlformats.org/drawingml/2006/main">
            <a:off x="540000" y="2880000"/>
            <a:ext cx="1080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0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Protein Needs</a:t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For a 35-year-old vegetarian, the recommendation is 0.8-1.2g protein per kg body weight.</a:t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Top sources:  Lentils (18g/cup)  |  Greek yogurt (17g/cup)  |  Tofu (20g/100g)  |  Quinoa (8g/cup)  |  Chickpeas (15g/cup)</a:t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Spread protein intake across all meals for optimal absorption.</a:t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IBM Granite  |  10:32 AM</a:t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--- This response is for informational purposes only. Consult a healthcare professional for personal guidance. ---</a:t>
            </a:r>
          </a:p>
        </p:txBody>
      </p:sp>
      <p:sp>
        <p:nvSpPr>
          <p:cNvPr id="100086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87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8C8FF"/>
                </a:solidFill>
              </a:rPr>
              <a:t>NutriGuide Agentic AI  |  IBM Granite</a:t>
            </a:r>
          </a:p>
        </p:txBody>
      </p:sp>
      <p:sp>
        <p:nvSpPr>
          <p:cNvPr id="100088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A2342"/>
                </a:solidFill>
                <a:latin typeface="Calibri"/>
                <a:ea typeface="Calibri"/>
              </a:rPr>
              <a:t>Ethical AI — Guardrails &amp; HAM Principles</a:t>
            </a:r>
          </a:p>
        </p:txBody>
      </p:sp>
      <p:sp>
        <p:nvSpPr>
          <p:cNvPr id="100089" name="Accent"/>
          <p:cNvSpPr txBox="1"/>
          <p:nvPr/>
        </p:nvSpPr>
        <p:spPr>
          <a:xfrm xmlns:a="http://schemas.openxmlformats.org/drawingml/2006/main">
            <a:off x="540000" y="900000"/>
            <a:ext cx="14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62FE"/>
              </a:solidFill>
            </a:endParaRPr>
          </a:p>
        </p:txBody>
      </p:sp>
      <p:sp>
        <p:nvSpPr>
          <p:cNvPr id="100090" name="InputGuard"/>
          <p:cNvSpPr txBox="1"/>
          <p:nvPr/>
        </p:nvSpPr>
        <p:spPr>
          <a:xfrm xmlns:a="http://schemas.openxmlformats.org/drawingml/2006/main">
            <a:off x="540000" y="1008000"/>
            <a:ext cx="342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INPUT GUARDRAILS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Form Validation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Name: letters only, 2-60 chars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Age: numeric, 5-110 range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Diet: validated enum values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City/Country: required fields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Harmful Content Detection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- 25+ blocked keywords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Starvation, extreme diets blocked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Crisis messaging for harm triggers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Query Safety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- 500 character limit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Prompt injection prevention</a:t>
            </a:r>
          </a:p>
        </p:txBody>
      </p:sp>
      <p:sp>
        <p:nvSpPr>
          <p:cNvPr id="100091" name="LLMGuard"/>
          <p:cNvSpPr txBox="1"/>
          <p:nvPr/>
        </p:nvSpPr>
        <p:spPr>
          <a:xfrm xmlns:a="http://schemas.openxmlformats.org/drawingml/2006/main">
            <a:off x="4320000" y="1008000"/>
            <a:ext cx="342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LLM GUARDRAILS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System Prompt Engineering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HAM principles embedded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No diagnoses or prescriptions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No extreme calorie restriction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No dangerous supplements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WHO / FDA guidelines cited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Output Sanitization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Post-generation content scan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Fallback safe message if harmful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Condition-specific disclaimers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High-Risk Conditions Flagged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- 15+ conditions detected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Specialist consultation urged</a:t>
            </a:r>
          </a:p>
        </p:txBody>
      </p:sp>
      <p:sp>
        <p:nvSpPr>
          <p:cNvPr id="100092" name="HAMBox"/>
          <p:cNvSpPr txBox="1"/>
          <p:nvPr/>
        </p:nvSpPr>
        <p:spPr>
          <a:xfrm xmlns:a="http://schemas.openxmlformats.org/drawingml/2006/main">
            <a:off x="8100000" y="1008000"/>
            <a:ext cx="342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A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HAM PRINCIPLES APPLIED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HELPFUL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Actionable meal plans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Grocery lists included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Local food suggestions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Practical lifestyle tips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ACCURATE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WHO guidelines embedded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FDA nutrition standards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Evidence-based macros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Medical history honoured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MEANINGFUL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Structured Markdown output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Tables for quick scanning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Clear section headers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- Downloadable .md format</a:t>
            </a:r>
          </a:p>
        </p:txBody>
      </p:sp>
      <p:sp>
        <p:nvSpPr>
          <p:cNvPr id="100093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94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8C8FF"/>
                </a:solidFill>
              </a:rPr>
              <a:t>NutriGuide Agentic AI  |  IBM Granite</a:t>
            </a:r>
          </a:p>
        </p:txBody>
      </p:sp>
      <p:sp>
        <p:nvSpPr>
          <p:cNvPr id="100095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A2342"/>
                </a:solidFill>
                <a:latin typeface="Calibri"/>
                <a:ea typeface="Calibri"/>
              </a:rPr>
              <a:t>IBM Granite Model — Integration Details</a:t>
            </a:r>
          </a:p>
        </p:txBody>
      </p:sp>
      <p:sp>
        <p:nvSpPr>
          <p:cNvPr id="100096" name="Accent"/>
          <p:cNvSpPr txBox="1"/>
          <p:nvPr/>
        </p:nvSpPr>
        <p:spPr>
          <a:xfrm xmlns:a="http://schemas.openxmlformats.org/drawingml/2006/main">
            <a:off x="540000" y="900000"/>
            <a:ext cx="14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62FE"/>
              </a:solidFill>
            </a:endParaRPr>
          </a:p>
        </p:txBody>
      </p:sp>
      <p:sp>
        <p:nvSpPr>
          <p:cNvPr id="100097" name="ModelBox"/>
          <p:cNvSpPr txBox="1"/>
          <p:nvPr/>
        </p:nvSpPr>
        <p:spPr>
          <a:xfrm xmlns:a="http://schemas.openxmlformats.org/drawingml/2006/main">
            <a:off x="540000" y="1008000"/>
            <a:ext cx="522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Model Configuration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Model ID:        ibm/granite-3-3-8b-instruct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Platform:        IBM Watsonx.ai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SDK:             ibm-watsonx-ai 1.1.2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Endpoint:        us-south.ml.cloud.ibm.com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Generation Parameters: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Max New Tokens:       2048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Min New Tokens:        100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Temperature:           0.7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Top-P:                 0.9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Top-K:                  50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Repetition Penalty:    1.1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Stop Sequences:  &lt;|endoftext|&gt;</a:t>
            </a:r>
          </a:p>
        </p:txBody>
      </p:sp>
      <p:sp>
        <p:nvSpPr>
          <p:cNvPr id="100098" name="PromptBox"/>
          <p:cNvSpPr txBox="1"/>
          <p:nvPr/>
        </p:nvSpPr>
        <p:spPr>
          <a:xfrm xmlns:a="http://schemas.openxmlformats.org/drawingml/2006/main">
            <a:off x="5940000" y="1008000"/>
            <a:ext cx="540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F2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Prompt Engineering (Instruct Format)</a:t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&lt;|system|&gt;</a:t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You are NutriGuide, a helpful and respectful</a:t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AI nutrition assistant powered by IBM Granite.</a:t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Follow HAM principles: Helpful, Accurate,</a:t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Meaningful. Never recommend starvation or</a:t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extreme restriction. Never diagnose or prescribe.</a:t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Always recommend consulting a healthcare pro.</a:t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[User Profile injected here]</a:t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&lt;|user|&gt;</a:t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Please generate my personalized 7-day</a:t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nutrition plan.</a:t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&lt;|assistant|&gt;</a:t>
            </a:r>
          </a:p>
          <a:p xmlns:a="http://schemas.openxmlformats.org/drawingml/2006/main">
            <a:r>
              <a:rPr lang="en-US" sz="1300" b="0">
                <a:solidFill>
                  <a:srgbClr val="E8EAF6"/>
                </a:solidFill>
              </a:rPr>
              <a:t>[IBM Granite generates plan here]</a:t>
            </a:r>
          </a:p>
        </p:txBody>
      </p:sp>
      <p:sp>
        <p:nvSpPr>
          <p:cNvPr id="100099" name="FallbackNote"/>
          <p:cNvSpPr txBox="1"/>
          <p:nvPr/>
        </p:nvSpPr>
        <p:spPr>
          <a:xfrm xmlns:a="http://schemas.openxmlformats.org/drawingml/2006/main">
            <a:off x="540000" y="4680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0043A8"/>
                </a:solidFill>
              </a:rPr>
              <a:t>Demo Mode:  If WATSONX_API_KEY is not configured, the app falls back to structured rule-based nutrition plans — fully functional without API key.</a:t>
            </a:r>
          </a:p>
        </p:txBody>
      </p:sp>
      <p:sp>
        <p:nvSpPr>
          <p:cNvPr id="100100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01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8C8FF"/>
                </a:solidFill>
              </a:rPr>
              <a:t>NutriGuide Agentic AI  |  IBM Granite</a:t>
            </a:r>
          </a:p>
        </p:txBody>
      </p:sp>
      <p:sp>
        <p:nvSpPr>
          <p:cNvPr id="100102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A2342"/>
                </a:solidFill>
                <a:latin typeface="Calibri"/>
                <a:ea typeface="Calibri"/>
              </a:rPr>
              <a:t>REST API Endpoints</a:t>
            </a:r>
          </a:p>
        </p:txBody>
      </p:sp>
      <p:sp>
        <p:nvSpPr>
          <p:cNvPr id="100103" name="Accent"/>
          <p:cNvSpPr txBox="1"/>
          <p:nvPr/>
        </p:nvSpPr>
        <p:spPr>
          <a:xfrm xmlns:a="http://schemas.openxmlformats.org/drawingml/2006/main">
            <a:off x="540000" y="900000"/>
            <a:ext cx="14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62FE"/>
              </a:solidFill>
            </a:endParaRPr>
          </a:p>
        </p:txBody>
      </p:sp>
      <p:sp>
        <p:nvSpPr>
          <p:cNvPr id="100104" name="EP1"/>
          <p:cNvSpPr txBox="1"/>
          <p:nvPr/>
        </p:nvSpPr>
        <p:spPr>
          <a:xfrm xmlns:a="http://schemas.openxmlformats.org/drawingml/2006/main">
            <a:off x="540000" y="1008000"/>
            <a:ext cx="108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1A1F2E"/>
                </a:solidFill>
              </a:rPr>
              <a:t>GET  /</a:t>
            </a:r>
          </a:p>
          <a:p xmlns:a="http://schemas.openxmlformats.org/drawingml/2006/main">
            <a:r>
              <a:rPr lang="en-US" sz="1500" b="0">
                <a:solidFill>
                  <a:srgbClr val="1A1F2E"/>
                </a:solidFill>
              </a:rPr>
              <a:t>Serves the web application (index.html)</a:t>
            </a:r>
          </a:p>
          <a:p xmlns:a="http://schemas.openxmlformats.org/drawingml/2006/main">
            <a:r>
              <a:rPr lang="en-US" sz="1500" b="0">
                <a:solidFill>
                  <a:srgbClr val="1A1F2E"/>
                </a:solidFill>
              </a:rPr>
              <a:t>Returns: HTML SPA</a:t>
            </a:r>
          </a:p>
        </p:txBody>
      </p:sp>
      <p:sp>
        <p:nvSpPr>
          <p:cNvPr id="100105" name="EP2"/>
          <p:cNvSpPr txBox="1"/>
          <p:nvPr/>
        </p:nvSpPr>
        <p:spPr>
          <a:xfrm xmlns:a="http://schemas.openxmlformats.org/drawingml/2006/main">
            <a:off x="540000" y="1764000"/>
            <a:ext cx="108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A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POST  /api/generate-plan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Generates personalized 7-day nutrition plan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Body: { name, age, diet_preference, medical_history, location_city, location_country }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Returns: { plan (markdown), flagged_conditions, source, generated_at, saved_file }</a:t>
            </a:r>
          </a:p>
        </p:txBody>
      </p:sp>
      <p:sp>
        <p:nvSpPr>
          <p:cNvPr id="100106" name="EP3"/>
          <p:cNvSpPr txBox="1"/>
          <p:nvPr/>
        </p:nvSpPr>
        <p:spPr>
          <a:xfrm xmlns:a="http://schemas.openxmlformats.org/drawingml/2006/main">
            <a:off x="540000" y="2664000"/>
            <a:ext cx="10800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POST  /api/ask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Answers a nutrition question in context of user profile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Body: { query, name, age, diet_preference, medical_history, location_city, location_country }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Returns: { answer (markdown with disclaimer) }</a:t>
            </a:r>
          </a:p>
        </p:txBody>
      </p:sp>
      <p:sp>
        <p:nvSpPr>
          <p:cNvPr id="100107" name="EP4"/>
          <p:cNvSpPr txBox="1"/>
          <p:nvPr/>
        </p:nvSpPr>
        <p:spPr>
          <a:xfrm xmlns:a="http://schemas.openxmlformats.org/drawingml/2006/main">
            <a:off x="540000" y="3564000"/>
            <a:ext cx="108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GET  /api/download-plan/&lt;filename&gt;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Downloads a saved nutrition plan as .md file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Security: filename sanitized to prevent path traversal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Returns: File attachment (.md)</a:t>
            </a:r>
          </a:p>
        </p:txBody>
      </p:sp>
      <p:sp>
        <p:nvSpPr>
          <p:cNvPr id="100108" name="EP5"/>
          <p:cNvSpPr txBox="1"/>
          <p:nvPr/>
        </p:nvSpPr>
        <p:spPr>
          <a:xfrm xmlns:a="http://schemas.openxmlformats.org/drawingml/2006/main">
            <a:off x="540000" y="4392000"/>
            <a:ext cx="108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GET  /api/health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Health check — returns LLM connection status, timestamp, model name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Returns: { status, app, model, llm_connected, timestamp }</a:t>
            </a:r>
          </a:p>
        </p:txBody>
      </p:sp>
      <p:sp>
        <p:nvSpPr>
          <p:cNvPr id="100109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10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8C8FF"/>
                </a:solidFill>
              </a:rPr>
              <a:t>NutriGuide Agentic AI  |  IBM Granite</a:t>
            </a:r>
          </a:p>
        </p:txBody>
      </p:sp>
      <p:sp>
        <p:nvSpPr>
          <p:cNvPr id="100111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A2342"/>
                </a:solidFill>
                <a:latin typeface="Calibri"/>
                <a:ea typeface="Calibri"/>
              </a:rPr>
              <a:t>Project Structure &amp; File Overview</a:t>
            </a:r>
          </a:p>
        </p:txBody>
      </p:sp>
      <p:sp>
        <p:nvSpPr>
          <p:cNvPr id="100112" name="Accent"/>
          <p:cNvSpPr txBox="1"/>
          <p:nvPr/>
        </p:nvSpPr>
        <p:spPr>
          <a:xfrm xmlns:a="http://schemas.openxmlformats.org/drawingml/2006/main">
            <a:off x="540000" y="900000"/>
            <a:ext cx="14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62FE"/>
              </a:solidFill>
            </a:endParaRPr>
          </a:p>
        </p:txBody>
      </p:sp>
      <p:sp>
        <p:nvSpPr>
          <p:cNvPr id="100113" name="Tree"/>
          <p:cNvSpPr txBox="1"/>
          <p:nvPr/>
        </p:nvSpPr>
        <p:spPr>
          <a:xfrm xmlns:a="http://schemas.openxmlformats.org/drawingml/2006/main">
            <a:off x="540000" y="1008000"/>
            <a:ext cx="1080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Nutrition-Agentic-AI/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app.py              Flask backend — IBM Granite agent logic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guardrails.py       Ethics &amp; safety guardrails (25+ blocked keywords, 15+ risk conditions)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disclaimer.py       Medical disclaimer generator (condition-specific, WHO/FDA aligned)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requirements.txt    Python dependencies (Flask, ibm-watsonx-ai, dotenv, gunicorn)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.env.example        Environment variable template (API key, Project ID, URL)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run.bat             One-click Windows launcher (venv + install + launch)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README.md           Full documentation with architecture diagrams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.gitignore          Git ignore (venv, .env, __pycache__, logs, plans/*.md)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LICENSE             MIT License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templates/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  index.html        Single-page web application (Jinja2 template)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static/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  style.css         Application styles — IBM design language, responsive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  app.js            Frontend JavaScript — Fetch API, Marked.js, form validation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plans/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  sample_nutrition_plan.md     Example generated plan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  [user]_[timestamp]_plan.md   Auto-saved per request</a:t>
            </a:r>
          </a:p>
        </p:txBody>
      </p:sp>
      <p:sp>
        <p:nvSpPr>
          <p:cNvPr id="100114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15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8C8FF"/>
                </a:solidFill>
              </a:rPr>
              <a:t>NutriGuide Agentic AI  |  IBM Granite</a:t>
            </a:r>
          </a:p>
        </p:txBody>
      </p:sp>
      <p:sp>
        <p:nvSpPr>
          <p:cNvPr id="100116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A2342"/>
                </a:solidFill>
                <a:latin typeface="Calibri"/>
                <a:ea typeface="Calibri"/>
              </a:rPr>
              <a:t>Deployment — run.bat One-Click Launcher</a:t>
            </a:r>
          </a:p>
        </p:txBody>
      </p:sp>
      <p:sp>
        <p:nvSpPr>
          <p:cNvPr id="100117" name="Accent"/>
          <p:cNvSpPr txBox="1"/>
          <p:nvPr/>
        </p:nvSpPr>
        <p:spPr>
          <a:xfrm xmlns:a="http://schemas.openxmlformats.org/drawingml/2006/main">
            <a:off x="540000" y="900000"/>
            <a:ext cx="14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62FE"/>
              </a:solidFill>
            </a:endParaRPr>
          </a:p>
        </p:txBody>
      </p:sp>
      <p:sp>
        <p:nvSpPr>
          <p:cNvPr id="100118" name="StepsLeft"/>
          <p:cNvSpPr txBox="1"/>
          <p:nvPr/>
        </p:nvSpPr>
        <p:spPr>
          <a:xfrm xmlns:a="http://schemas.openxmlformats.org/drawingml/2006/main">
            <a:off x="540000" y="1008000"/>
            <a:ext cx="5220000" cy="43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What run.bat Does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Step 1 — Check Python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Verifies Python 3.9+ is installed.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Shows clear error + download link if missing.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Step 2 — Configure .env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Copies .env.example to .env automatically.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Prompts user to enter Watsonx API Key + Project ID.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Skippable — runs in Demo Mode if no key.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Step 3 — Virtual Environment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Creates venv/ if it doesn't exist.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Activates the environment for isolation.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Step 4 — Install Dependencies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pip install -r requirements.txt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All packages auto-installed silently.</a:t>
            </a:r>
          </a:p>
        </p:txBody>
      </p:sp>
      <p:sp>
        <p:nvSpPr>
          <p:cNvPr id="100119" name="StepsRight"/>
          <p:cNvSpPr txBox="1"/>
          <p:nvPr/>
        </p:nvSpPr>
        <p:spPr>
          <a:xfrm xmlns:a="http://schemas.openxmlformats.org/drawingml/2006/main">
            <a:off x="5940000" y="1008000"/>
            <a:ext cx="5400000" cy="43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>run.bat Output (Console)</a:t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>  =========================================</a:t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>  NutriGuide - Nutrition Agentic AI</a:t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>  Powered by IBM Granite 3.3 (Watsonx.ai)</a:t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>  =========================================</a:t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>  [1/5] Checking Python...  Found: Python 3.13.14</a:t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>  [2/5] Checking environment configuration...</a:t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>        API key already configured.</a:t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>  [3/5] Setting up Python virtual environment...</a:t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>        Virtual environment already exists.</a:t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>  [4/5] Installing Python dependencies...</a:t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>        All dependencies installed successfully.</a:t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>  [5/5] Starting NutriGuide Agentic AI...</a:t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>  Application is starting...</a:t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>  Open your browser at: http://localhost:5000</a:t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>  Press Ctrl+C to stop the server</a:t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>  NutriGuide Agentic AI starting on port 5000</a:t>
            </a:r>
          </a:p>
          <a:p xmlns:a="http://schemas.openxmlformats.org/drawingml/2006/main">
            <a:r>
              <a:rPr lang="en-US" sz="1300" b="0">
                <a:solidFill>
                  <a:srgbClr val="A8C8FF"/>
                </a:solidFill>
              </a:rPr>
              <a:t>  IBM Granite model: Demo Mode</a:t>
            </a:r>
          </a:p>
        </p:txBody>
      </p:sp>
      <p:sp>
        <p:nvSpPr>
          <p:cNvPr id="100120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21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8C8FF"/>
                </a:solidFill>
              </a:rPr>
              <a:t>NutriGuide Agentic AI  |  IBM Granite</a:t>
            </a:r>
          </a:p>
        </p:txBody>
      </p:sp>
      <p:sp>
        <p:nvSpPr>
          <p:cNvPr id="100122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A2342"/>
                </a:solidFill>
                <a:latin typeface="Calibri"/>
                <a:ea typeface="Calibri"/>
              </a:rPr>
              <a:t>GitHub Repository</a:t>
            </a:r>
          </a:p>
        </p:txBody>
      </p:sp>
      <p:sp>
        <p:nvSpPr>
          <p:cNvPr id="100123" name="Accent"/>
          <p:cNvSpPr txBox="1"/>
          <p:nvPr/>
        </p:nvSpPr>
        <p:spPr>
          <a:xfrm xmlns:a="http://schemas.openxmlformats.org/drawingml/2006/main">
            <a:off x="540000" y="900000"/>
            <a:ext cx="14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62FE"/>
              </a:solidFill>
            </a:endParaRPr>
          </a:p>
        </p:txBody>
      </p:sp>
      <p:sp>
        <p:nvSpPr>
          <p:cNvPr id="100124" name="RepoURL"/>
          <p:cNvSpPr txBox="1"/>
          <p:nvPr/>
        </p:nvSpPr>
        <p:spPr>
          <a:xfrm xmlns:a="http://schemas.openxmlformats.org/drawingml/2006/main">
            <a:off x="540000" y="1008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0F62FE"/>
                </a:solidFill>
              </a:rPr>
              <a:t>https://github.com/akshitgajera1013/Nutrition-Agentic-AI</a:t>
            </a:r>
          </a:p>
        </p:txBody>
      </p:sp>
      <p:sp>
        <p:nvSpPr>
          <p:cNvPr id="100125" name="CommitInfo"/>
          <p:cNvSpPr txBox="1"/>
          <p:nvPr/>
        </p:nvSpPr>
        <p:spPr>
          <a:xfrm xmlns:a="http://schemas.openxmlformats.org/drawingml/2006/main">
            <a:off x="540000" y="1440000"/>
            <a:ext cx="522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Initial Commit Details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Commit:   255de7c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Branch:   main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Files:    13 files changed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Inserts:  2,585 insertions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Date:     2024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Commit Message: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feat: initial commit — NutriGuide Nutrition Agentic AI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- Full-stack web app powered by IBM Granite 3.3 8B Instruct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- Flask backend with IBM Watsonx AI SDK integration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- Agentic AI: nutrition plan generation + Q&amp;A agent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- Ethical guardrails, HAM principles, medical disclaimers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- Markdown (.md) plan export with auto-save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- Responsive single-page web UI (HTML/CSS/JS)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- One-click Windows launcher (run.bat)</a:t>
            </a:r>
          </a:p>
        </p:txBody>
      </p:sp>
      <p:sp>
        <p:nvSpPr>
          <p:cNvPr id="100126" name="FilesBox"/>
          <p:cNvSpPr txBox="1"/>
          <p:nvPr/>
        </p:nvSpPr>
        <p:spPr>
          <a:xfrm xmlns:a="http://schemas.openxmlformats.org/drawingml/2006/main">
            <a:off x="5940000" y="1440000"/>
            <a:ext cx="5400000" cy="36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Files in Repository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app.py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guardrails.py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disclaimer.py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requirements.txt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.env.example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run.bat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README.md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.gitignore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LICENSE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templates/index.html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static/style.css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static/app.js</a:t>
            </a:r>
          </a:p>
          <a:p xmlns:a="http://schemas.openxmlformats.org/drawingml/2006/main">
            <a:r>
              <a:rPr lang="en-US" sz="1400" b="0">
                <a:solidFill>
                  <a:srgbClr val="1A1F2E"/>
                </a:solidFill>
              </a:rPr>
              <a:t>  plans/sample_nutrition_plan.md</a:t>
            </a:r>
          </a:p>
        </p:txBody>
      </p:sp>
      <p:sp>
        <p:nvSpPr>
          <p:cNvPr id="100127" name="CloneCmd"/>
          <p:cNvSpPr txBox="1"/>
          <p:nvPr/>
        </p:nvSpPr>
        <p:spPr>
          <a:xfrm xmlns:a="http://schemas.openxmlformats.org/drawingml/2006/main">
            <a:off x="540000" y="5148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6929C4"/>
                </a:solidFill>
              </a:rPr>
              <a:t>git clone https://github.com/akshitgajera1013/Nutrition-Agentic-AI.git  &amp;&amp;  cd Nutrition-Agentic-AI  &amp;&amp;  run.bat</a:t>
            </a:r>
          </a:p>
        </p:txBody>
      </p:sp>
      <p:sp>
        <p:nvSpPr>
          <p:cNvPr id="100128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129" name="Top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234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A8C8FF"/>
                </a:solidFill>
              </a:rPr>
              <a:t>NutriGuide Agentic AI  |  IBM Granite</a:t>
            </a:r>
          </a:p>
        </p:txBody>
      </p:sp>
      <p:sp>
        <p:nvSpPr>
          <p:cNvPr id="100130" name="Title"/>
          <p:cNvSpPr txBox="1"/>
          <p:nvPr/>
        </p:nvSpPr>
        <p:spPr>
          <a:xfrm xmlns:a="http://schemas.openxmlformats.org/drawingml/2006/main">
            <a:off x="540000" y="432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400" b="1">
                <a:solidFill>
                  <a:srgbClr val="0A2342"/>
                </a:solidFill>
                <a:latin typeface="Calibri"/>
                <a:ea typeface="Calibri"/>
              </a:rPr>
              <a:t>Medical Disclaimer &amp; AI Ethics</a:t>
            </a:r>
          </a:p>
        </p:txBody>
      </p:sp>
      <p:sp>
        <p:nvSpPr>
          <p:cNvPr id="100131" name="Accent"/>
          <p:cNvSpPr txBox="1"/>
          <p:nvPr/>
        </p:nvSpPr>
        <p:spPr>
          <a:xfrm xmlns:a="http://schemas.openxmlformats.org/drawingml/2006/main">
            <a:off x="540000" y="900000"/>
            <a:ext cx="144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62FE"/>
              </a:solidFill>
            </a:endParaRPr>
          </a:p>
        </p:txBody>
      </p:sp>
      <p:sp>
        <p:nvSpPr>
          <p:cNvPr id="100132" name="DisclBox"/>
          <p:cNvSpPr txBox="1"/>
          <p:nvPr/>
        </p:nvSpPr>
        <p:spPr>
          <a:xfrm xmlns:a="http://schemas.openxmlformats.org/drawingml/2006/main">
            <a:off x="540000" y="1008000"/>
            <a:ext cx="6840000" cy="45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>Medical Disclaimer (Shown in Every Plan)</a:t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>Dear [User],</a:t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>The nutrition plan provided by NutriGuide (Nutrition Agentic AI) is intended</a:t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>for general informational and educational purposes only.</a:t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>This content:</a:t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>  X  Does NOT constitute medical advice, diagnosis, or treatment</a:t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>  X  Does NOT replace consultation with a qualified physician or RD</a:t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>  X  Should NOT be used as the sole basis for health decisions</a:t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>Before making significant dietary changes, please consult:</a:t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>  - Your primary care physician</a:t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>  - A registered dietitian (RD) or registered dietitian nutritionist (RDN)</a:t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>  - Your specialist for any condition-specific guidance</a:t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>Additional Notice (for high-risk conditions):</a:t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>  Your profile indicates conditions such as Diabetes / Blood Pressure / etc.</a:t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>  These require specialist medical supervision for any dietary changes.</a:t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>  This plan is a general starting point only.</a:t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5A4000"/>
                </a:solidFill>
              </a:rPr>
              <a:t>NutriGuide AI — Powered by IBM Granite | Following WHO &amp; FDA Guidelines</a:t>
            </a:r>
          </a:p>
        </p:txBody>
      </p:sp>
      <p:sp>
        <p:nvSpPr>
          <p:cNvPr id="100133" name="EthicsBox"/>
          <p:cNvSpPr txBox="1"/>
          <p:nvPr/>
        </p:nvSpPr>
        <p:spPr>
          <a:xfrm xmlns:a="http://schemas.openxmlformats.org/drawingml/2006/main">
            <a:off x="7740000" y="1008000"/>
            <a:ext cx="3600000" cy="45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A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IBM Responsible AI Principles Applied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Transparency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LLM source and model ID shown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in every plan output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Fairness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Non-judgmental, inclusive tone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across all diet types and conditions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Privacy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No PII stored or logged beyond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the generated plan file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Safety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Harmful content never generated;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fallback to safe message if detected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Accountability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Medical disclaimers on every output;</a:t>
            </a:r>
          </a:p>
          <a:p xmlns:a="http://schemas.openxmlformats.org/drawingml/2006/main">
            <a:r>
              <a:rPr lang="en-US" sz="1300" b="0">
                <a:solidFill>
                  <a:srgbClr val="1A1F2E"/>
                </a:solidFill>
              </a:rPr>
              <a:t>  professional consultation always urged</a:t>
            </a:r>
          </a:p>
        </p:txBody>
      </p:sp>
      <p:sp>
        <p:nvSpPr>
          <p:cNvPr id="100134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2342"/>
        </a:solidFill>
      </p:bgPr>
    </p:bg>
    <p:spTree>
      <p:nvGrpSpPr>
        <p:cNvPr id="1" name=""/>
        <p:cNvGrpSpPr/>
        <p:nvPr/>
      </p:nvGrpSpPr>
      <p:grpSpPr/>
      <p:sp>
        <p:nvSpPr>
          <p:cNvPr id="100135" name="Top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  <p:sp>
        <p:nvSpPr>
          <p:cNvPr id="100136" name="Title"/>
          <p:cNvSpPr txBox="1"/>
          <p:nvPr/>
        </p:nvSpPr>
        <p:spPr>
          <a:xfrm xmlns:a="http://schemas.openxmlformats.org/drawingml/2006/main">
            <a:off x="720000" y="1080000"/>
            <a:ext cx="108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6000" b="1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100137" name="Sub"/>
          <p:cNvSpPr txBox="1"/>
          <p:nvPr/>
        </p:nvSpPr>
        <p:spPr>
          <a:xfrm xmlns:a="http://schemas.openxmlformats.org/drawingml/2006/main">
            <a:off x="720000" y="2340000"/>
            <a:ext cx="10800000" cy="43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0">
                <a:solidFill>
                  <a:srgbClr val="A8C8FF"/>
                </a:solidFill>
                <a:latin typeface="Calibri"/>
                <a:ea typeface="Calibri"/>
              </a:rPr>
              <a:t>NutriGuide — Nutrition Agentic AI</a:t>
            </a:r>
          </a:p>
        </p:txBody>
      </p:sp>
      <p:sp>
        <p:nvSpPr>
          <p:cNvPr id="100138" name="Divider"/>
          <p:cNvSpPr txBox="1"/>
          <p:nvPr/>
        </p:nvSpPr>
        <p:spPr>
          <a:xfrm xmlns:a="http://schemas.openxmlformats.org/drawingml/2006/main">
            <a:off x="720000" y="2880000"/>
            <a:ext cx="288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0F62FE"/>
              </a:solidFill>
            </a:endParaRPr>
          </a:p>
        </p:txBody>
      </p:sp>
      <p:sp>
        <p:nvSpPr>
          <p:cNvPr id="100139" name="Tech"/>
          <p:cNvSpPr txBox="1"/>
          <p:nvPr/>
        </p:nvSpPr>
        <p:spPr>
          <a:xfrm xmlns:a="http://schemas.openxmlformats.org/drawingml/2006/main">
            <a:off x="720000" y="3060000"/>
            <a:ext cx="1080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9EF0AC"/>
                </a:solidFill>
                <a:latin typeface="Calibri"/>
                <a:ea typeface="Calibri"/>
              </a:rPr>
              <a:t>IBM Granite 3.3 8B Instruct  ·  Watsonx.ai  ·  Python Flask  ·  Ethical AI  ·  HAM Principles</a:t>
            </a:r>
          </a:p>
        </p:txBody>
      </p:sp>
      <p:sp>
        <p:nvSpPr>
          <p:cNvPr id="100140" name="GitHub"/>
          <p:cNvSpPr txBox="1"/>
          <p:nvPr/>
        </p:nvSpPr>
        <p:spPr>
          <a:xfrm xmlns:a="http://schemas.openxmlformats.org/drawingml/2006/main">
            <a:off x="720000" y="3600000"/>
            <a:ext cx="10800000" cy="3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0">
                <a:solidFill>
                  <a:srgbClr val="A8C8FF"/>
                </a:solidFill>
                <a:latin typeface="Calibri"/>
                <a:ea typeface="Calibri"/>
              </a:rPr>
              <a:t>GitHub:  https://github.com/akshitgajera1013/Nutrition-Agentic-AI</a:t>
            </a:r>
          </a:p>
        </p:txBody>
      </p:sp>
      <p:sp>
        <p:nvSpPr>
          <p:cNvPr id="100141" name="MedNote"/>
          <p:cNvSpPr txBox="1"/>
          <p:nvPr/>
        </p:nvSpPr>
        <p:spPr>
          <a:xfrm xmlns:a="http://schemas.openxmlformats.org/drawingml/2006/main">
            <a:off x="720000" y="4320000"/>
            <a:ext cx="10800000" cy="54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F1C21B"/>
                </a:solidFill>
                <a:latin typeface="Calibri"/>
                <a:ea typeface="Calibri"/>
              </a:rPr>
              <a:t>This application provides general nutritional information only. It is NOT medical advice.</a:t>
            </a:r>
          </a:p>
          <a:p xmlns:a="http://schemas.openxmlformats.org/drawingml/2006/main">
            <a:r>
              <a:rPr lang="en-US" sz="1400" b="0">
                <a:solidFill>
                  <a:srgbClr val="F1C21B"/>
                </a:solidFill>
                <a:latin typeface="Calibri"/>
                <a:ea typeface="Calibri"/>
              </a:rPr>
              <a:t>Always consult a qualified healthcare provider before making dietary changes.</a:t>
            </a:r>
          </a:p>
        </p:txBody>
      </p:sp>
      <p:sp>
        <p:nvSpPr>
          <p:cNvPr id="100142" name="BottomBar"/>
          <p:cNvSpPr txBox="1"/>
          <p:nvPr/>
        </p:nvSpPr>
        <p:spPr>
          <a:xfrm xmlns:a="http://schemas.openxmlformats.org/drawingml/2006/main">
            <a:off x="0" y="666000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FFFF"/>
              </a:solidFill>
            </a:endParaRP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2026-10-13T08:48:45Z</dcterms:created>
  <cp:lastModifiedBy>OfficeCLI</cp:lastModifiedBy>
  <dcterms:modified xsi:type="dcterms:W3CDTF">2026-10-13T08:48:45Z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2026-10-13T08:51:50Z</vt:lpwstr>
  </op:property>
</op:Properties>
</file>