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Title slide. NutriGuide is a full-stack Agentic AI web application that generates personalized 7-day nutrition plans using IBM Granite 3.3 8B Instruct via Watsonx.ai.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NutriGuide is a complete Agentic AI web application. It uses IBM Granite via Watsonx.ai to generate nutrition plans, and includes a Q&amp;A agent, ethical guardrails, and markdown export.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 8 phases of the Agentic AI SDLC were followed: Requirements, Architecture, Agent Design, Development, Guardrails, Testing, Deployment, and Monitoring.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architecture is a 3-layer stack: Browser SPA on top, Flask backend in the middle with guardrails/disclaimers/export modules, and IBM Granite via Watsonx.ai at the bottom.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9 key features: IBM Granite LLM, User Profiling, 7-Day Meal Plans, Ethical Guardrails, Q&amp;A Agent, Markdown Export, HAM Principles, Medical Disclaimers, and Demo Mode.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home page shows a two-panel layout. Left panel has the user profile form. Right panel shows the welcome state with feature tiles. The header shows IBM Granite and Watsonx.ai badges.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When the user submits the form, the app validates input, runs guardrails, builds a system prompt with HAM principles, calls IBM Granite via Watsonx.ai, sanitizes the response, appends disclaimers, and auto-saves to plans/.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plan output renders as formatted Markdown: meta bar with user info, action buttons for download/copy, full plan content with macros table and 7-day meals, and medical disclaimer at the bottom.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Every generated plan is saved as a .md file in the plans/ directory with YAML frontmatter including model name and timestamp. Users can download it from the web UI.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Q&amp;A tab lets users ask any nutrition question. IBM Granite answers in context of the user's profile. Quick suggestion chips speed up interaction. Each answer includes a short disclaimer.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Three pillars of ethical AI: Input Guardrails (validation + harmful content blocking), LLM Guardrails (system prompt constraints + output sanitization), and HAM Principles (Helpful, Accurate, Meaningful).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IBM Granite 3.3 8B Instruct is called via ibm-watsonx-ai SDK using the instruct prompt format. The system prompt embeds user profile, HAM principles and guardrails. Demo mode works without API key.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5 REST API endpoints: GET / serves the SPA, POST /api/generate-plan creates the nutrition plan, POST /api/ask handles Q&amp;A, GET /api/download-plan/&lt;file&gt; downloads .md, GET /api/health checks LLM status.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13 files in the project: app.py (backend), guardrails.py, disclaimer.py, requirements.txt, .env.example, run.bat, README.md, .gitignore, LICENSE, index.html, style.css, app.js, and sample plan.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run.bat automates the entire setup: Python check, .env creation and credential prompt, venv creation, pip install, plans/ directory creation, Flask launch, and auto-opens the browser.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repository is live on GitHub. Clone and run with 3 commands. All 13 files are committed including README with architecture diagrams, .gitignore, LICENSE, and the full application code.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Every nutrition plan includes a full medical disclaimer. High-risk conditions trigger enhanced warnings. IBM Responsible AI principles are applied throughout: Transparency, Fairness, Privacy, Safety, Accountability.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Closing slide. Thank you. NutriGuide Agentic AI — powered by IBM Granite 3.3 via Watsonx.ai. Full source code available on GitHub. Always consult a healthcare provider before making dietary changes.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TopBar"/>
          <p:cNvSpPr txBox="1"/>
          <p:nvPr/>
        </p:nvSpPr>
        <p:spPr>
          <a:xfrm>
            <a:off x="0" y="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  <p:sp>
        <p:nvSpPr>
          <p:cNvPr id="100001" name="Title"/>
          <p:cNvSpPr txBox="1"/>
          <p:nvPr/>
        </p:nvSpPr>
        <p:spPr>
          <a:xfrm>
            <a:off x="720000" y="900000"/>
            <a:ext cx="10800000" cy="1080000"/>
          </a:xfrm>
          <a:prstGeom prst="rect">
            <a:avLst/>
          </a:prstGeom>
        </p:spPr>
        <p:txBody>
          <a:bodyPr/>
          <a:lstStyle/>
          <a:p>
            <a:r>
              <a:rPr lang="en-US" sz="6000" b="1">
                <a:solidFill>
                  <a:srgbClr val="FFFFFF"/>
                </a:solidFill>
                <a:latin typeface="Calibri"/>
                <a:ea typeface="Calibri"/>
              </a:rPr>
              <a:t>NutriGuide</a:t>
            </a:r>
          </a:p>
        </p:txBody>
      </p:sp>
      <p:sp>
        <p:nvSpPr>
          <p:cNvPr id="100002" name="Subtitle"/>
          <p:cNvSpPr txBox="1"/>
          <p:nvPr/>
        </p:nvSpPr>
        <p:spPr>
          <a:xfrm>
            <a:off x="720000" y="2088000"/>
            <a:ext cx="10800000" cy="540000"/>
          </a:xfrm>
          <a:prstGeom prst="rect">
            <a:avLst/>
          </a:prstGeom>
        </p:spPr>
        <p:txBody>
          <a:bodyPr/>
          <a:lstStyle/>
          <a:p>
            <a:r>
              <a:rPr lang="en-US" sz="2800" b="0">
                <a:solidFill>
                  <a:srgbClr val="A8C8FF"/>
                </a:solidFill>
                <a:latin typeface="Calibri"/>
                <a:ea typeface="Calibri"/>
              </a:rPr>
              <a:t>Nutrition Agentic AI Application</a:t>
            </a:r>
          </a:p>
        </p:txBody>
      </p:sp>
      <p:sp>
        <p:nvSpPr>
          <p:cNvPr id="100003" name="Tagline"/>
          <p:cNvSpPr txBox="1"/>
          <p:nvPr/>
        </p:nvSpPr>
        <p:spPr>
          <a:xfrm>
            <a:off x="720000" y="2700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800" b="0">
                <a:solidFill>
                  <a:srgbClr val="6929C4"/>
                </a:solidFill>
                <a:latin typeface="Calibri"/>
                <a:ea typeface="Calibri"/>
              </a:rPr>
              <a:t>Powered by IBM Granite 3.3 8B Instruct  |  Watsonx.ai  |  Flask</a:t>
            </a:r>
          </a:p>
        </p:txBody>
      </p:sp>
      <p:sp>
        <p:nvSpPr>
          <p:cNvPr id="100004" name="Divider"/>
          <p:cNvSpPr txBox="1"/>
          <p:nvPr/>
        </p:nvSpPr>
        <p:spPr>
          <a:xfrm>
            <a:off x="720000" y="3240000"/>
            <a:ext cx="3600000" cy="288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005" name="Pills"/>
          <p:cNvSpPr txBox="1"/>
          <p:nvPr/>
        </p:nvSpPr>
        <p:spPr>
          <a:xfrm>
            <a:off x="720000" y="3420000"/>
            <a:ext cx="10800000" cy="288000"/>
          </a:xfrm>
          <a:prstGeom prst="rect">
            <a:avLst/>
          </a:prstGeom>
        </p:spPr>
        <p:txBody>
          <a:bodyPr/>
          <a:lstStyle/>
          <a:p>
            <a:r>
              <a:rPr lang="en-US" sz="1400" b="0">
                <a:solidFill>
                  <a:srgbClr val="9EF0AC"/>
                </a:solidFill>
                <a:latin typeface="Calibri"/>
                <a:ea typeface="Calibri"/>
              </a:rPr>
              <a:t>Ethical AI   |   HAM Principles   |   Medical Guardrails   |   7-Day Meal Plans</a:t>
            </a:r>
          </a:p>
        </p:txBody>
      </p:sp>
      <p:sp>
        <p:nvSpPr>
          <p:cNvPr id="100006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7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 b="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008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0A2342"/>
                </a:solidFill>
                <a:latin typeface="Calibri"/>
                <a:ea typeface="Calibri"/>
              </a:rPr>
              <a:t>Project Overview</a:t>
            </a:r>
          </a:p>
        </p:txBody>
      </p:sp>
      <p:sp>
        <p:nvSpPr>
          <p:cNvPr id="100009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010" name="WhatBox"/>
          <p:cNvSpPr txBox="1"/>
          <p:nvPr/>
        </p:nvSpPr>
        <p:spPr>
          <a:xfrm>
            <a:off x="540000" y="1008000"/>
            <a:ext cx="5040000" cy="180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What is NutriGuide?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NutriGuide is a web-based Agentic AI application that collects a user's health profile and generates a fully personalized 7-day nutrition plan using IBM Granite LLM via Watsonx.ai.</a:t>
            </a:r>
          </a:p>
        </p:txBody>
      </p:sp>
      <p:sp>
        <p:nvSpPr>
          <p:cNvPr id="100011" name="WhyBox"/>
          <p:cNvSpPr txBox="1"/>
          <p:nvPr/>
        </p:nvSpPr>
        <p:spPr>
          <a:xfrm>
            <a:off x="5940000" y="1008000"/>
            <a:ext cx="5400000" cy="1800000"/>
          </a:xfrm>
          <a:prstGeom prst="rect">
            <a:avLst/>
          </a:prstGeom>
          <a:solidFill>
            <a:srgbClr val="F3EFFF"/>
          </a:solidFill>
        </p:spPr>
        <p:txBody>
          <a:bodyPr/>
          <a:lstStyle/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Why Agentic AI?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- Autonomous multi-step reasoning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- Context-aware Q&amp;A agent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- Guardrails &amp; ethics pipeline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- HAM: Helpful, Accurate, Meaningful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- Auto-saves plans as .md files</a:t>
            </a:r>
          </a:p>
        </p:txBody>
      </p:sp>
      <p:sp>
        <p:nvSpPr>
          <p:cNvPr id="100012" name="KeyFacts"/>
          <p:cNvSpPr txBox="1"/>
          <p:nvPr/>
        </p:nvSpPr>
        <p:spPr>
          <a:xfrm>
            <a:off x="540000" y="2952000"/>
            <a:ext cx="10800000" cy="1800000"/>
          </a:xfrm>
          <a:prstGeom prst="rect">
            <a:avLst/>
          </a:prstGeom>
          <a:solidFill>
            <a:srgbClr val="F7F8FA"/>
          </a:solidFill>
        </p:spPr>
        <p:txBody>
          <a:bodyPr/>
          <a:lstStyle/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Key Facts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  Model:  IBM Granite 3.3 8B Instruct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  Platform:  IBM Watsonx.ai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  Backend:  Python Flask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  Frontend:  HTML / CSS / JavaScript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  Export:  Markdown (.md) files</a:t>
            </a:r>
          </a:p>
          <a:p>
            <a:r>
              <a:rPr lang="en-US" sz="1600" b="0">
                <a:solidFill>
                  <a:srgbClr val="1A1F2E"/>
                </a:solidFill>
                <a:latin typeface="Calibri"/>
                <a:ea typeface="Calibri"/>
              </a:rPr>
              <a:t>  Launch:  One-click run.bat</a:t>
            </a:r>
          </a:p>
        </p:txBody>
      </p:sp>
      <p:sp>
        <p:nvSpPr>
          <p:cNvPr id="100013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14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 b="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015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0A2342"/>
                </a:solidFill>
                <a:latin typeface="Calibri"/>
                <a:ea typeface="Calibri"/>
              </a:rPr>
              <a:t>Agentic AI SDLC — 8 Phases</a:t>
            </a:r>
          </a:p>
        </p:txBody>
      </p:sp>
      <p:sp>
        <p:nvSpPr>
          <p:cNvPr id="100016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017" name="P1"/>
          <p:cNvSpPr txBox="1"/>
          <p:nvPr/>
        </p:nvSpPr>
        <p:spPr>
          <a:xfrm>
            <a:off x="540000" y="1008000"/>
            <a:ext cx="5220000" cy="90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1. Requirements</a:t>
            </a:r>
          </a:p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User profiles, LLM selection, ethics framework defined</a:t>
            </a:r>
          </a:p>
        </p:txBody>
      </p:sp>
      <p:sp>
        <p:nvSpPr>
          <p:cNvPr id="100018" name="P2"/>
          <p:cNvSpPr txBox="1"/>
          <p:nvPr/>
        </p:nvSpPr>
        <p:spPr>
          <a:xfrm>
            <a:off x="6120000" y="1008000"/>
            <a:ext cx="5220000" cy="900000"/>
          </a:xfrm>
          <a:prstGeom prst="rect">
            <a:avLst/>
          </a:prstGeom>
          <a:solidFill>
            <a:srgbClr val="F3EFFF"/>
          </a:solidFill>
        </p:spPr>
        <p:txBody>
          <a:bodyPr/>
          <a:lstStyle/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2. Architecture</a:t>
            </a:r>
          </a:p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Flask + IBM Granite via Watsonx.ai REST API</a:t>
            </a:r>
          </a:p>
        </p:txBody>
      </p:sp>
      <p:sp>
        <p:nvSpPr>
          <p:cNvPr id="100019" name="P3"/>
          <p:cNvSpPr txBox="1"/>
          <p:nvPr/>
        </p:nvSpPr>
        <p:spPr>
          <a:xfrm>
            <a:off x="540000" y="1980000"/>
            <a:ext cx="5220000" cy="900000"/>
          </a:xfrm>
          <a:prstGeom prst="rect">
            <a:avLst/>
          </a:prstGeom>
          <a:solidFill>
            <a:srgbClr val="EDFAF1"/>
          </a:solidFill>
        </p:spPr>
        <p:txBody>
          <a:bodyPr/>
          <a:lstStyle/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3. Agent Design</a:t>
            </a:r>
          </a:p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Multi-turn Q&amp;A, guardrails pipeline, prompt engineering</a:t>
            </a:r>
          </a:p>
        </p:txBody>
      </p:sp>
      <p:sp>
        <p:nvSpPr>
          <p:cNvPr id="100020" name="P4"/>
          <p:cNvSpPr txBox="1"/>
          <p:nvPr/>
        </p:nvSpPr>
        <p:spPr>
          <a:xfrm>
            <a:off x="6120000" y="1980000"/>
            <a:ext cx="5220000" cy="900000"/>
          </a:xfrm>
          <a:prstGeom prst="rect">
            <a:avLst/>
          </a:prstGeom>
          <a:solidFill>
            <a:srgbClr val="FFF8E1"/>
          </a:solidFill>
        </p:spPr>
        <p:txBody>
          <a:bodyPr/>
          <a:lstStyle/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4. Development</a:t>
            </a:r>
          </a:p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Backend agent, SPA frontend, Markdown export</a:t>
            </a:r>
          </a:p>
        </p:txBody>
      </p:sp>
      <p:sp>
        <p:nvSpPr>
          <p:cNvPr id="100021" name="P5"/>
          <p:cNvSpPr txBox="1"/>
          <p:nvPr/>
        </p:nvSpPr>
        <p:spPr>
          <a:xfrm>
            <a:off x="540000" y="2952000"/>
            <a:ext cx="5220000" cy="900000"/>
          </a:xfrm>
          <a:prstGeom prst="rect">
            <a:avLst/>
          </a:prstGeom>
          <a:solidFill>
            <a:srgbClr val="FFF1F1"/>
          </a:solidFill>
        </p:spPr>
        <p:txBody>
          <a:bodyPr/>
          <a:lstStyle/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5. Guardrails</a:t>
            </a:r>
          </a:p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Input validation, harmful content detection, disclaimers</a:t>
            </a:r>
          </a:p>
        </p:txBody>
      </p:sp>
      <p:sp>
        <p:nvSpPr>
          <p:cNvPr id="100022" name="P6"/>
          <p:cNvSpPr txBox="1"/>
          <p:nvPr/>
        </p:nvSpPr>
        <p:spPr>
          <a:xfrm>
            <a:off x="6120000" y="2952000"/>
            <a:ext cx="5220000" cy="90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6. Testing</a:t>
            </a:r>
          </a:p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Edge cases, ethical red-teaming, demo mode fallback</a:t>
            </a:r>
          </a:p>
        </p:txBody>
      </p:sp>
      <p:sp>
        <p:nvSpPr>
          <p:cNvPr id="100023" name="P7"/>
          <p:cNvSpPr txBox="1"/>
          <p:nvPr/>
        </p:nvSpPr>
        <p:spPr>
          <a:xfrm>
            <a:off x="540000" y="3924000"/>
            <a:ext cx="5220000" cy="900000"/>
          </a:xfrm>
          <a:prstGeom prst="rect">
            <a:avLst/>
          </a:prstGeom>
          <a:solidFill>
            <a:srgbClr val="F3EFFF"/>
          </a:solidFill>
        </p:spPr>
        <p:txBody>
          <a:bodyPr/>
          <a:lstStyle/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7. Deployment</a:t>
            </a:r>
          </a:p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Local server with one-click run.bat launcher</a:t>
            </a:r>
          </a:p>
        </p:txBody>
      </p:sp>
      <p:sp>
        <p:nvSpPr>
          <p:cNvPr id="100024" name="P8"/>
          <p:cNvSpPr txBox="1"/>
          <p:nvPr/>
        </p:nvSpPr>
        <p:spPr>
          <a:xfrm>
            <a:off x="6120000" y="3924000"/>
            <a:ext cx="5220000" cy="900000"/>
          </a:xfrm>
          <a:prstGeom prst="rect">
            <a:avLst/>
          </a:prstGeom>
          <a:solidFill>
            <a:srgbClr val="EDFAF1"/>
          </a:solidFill>
        </p:spPr>
        <p:txBody>
          <a:bodyPr/>
          <a:lstStyle/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8. Monitoring</a:t>
            </a:r>
          </a:p>
          <a:p>
            <a:r>
              <a:rPr lang="en-US" sz="1500" b="0">
                <a:solidFill>
                  <a:srgbClr val="1A1F2E"/>
                </a:solidFill>
                <a:latin typeface="Calibri"/>
                <a:ea typeface="Calibri"/>
              </a:rPr>
              <a:t>Request logging, plan export audit trail, health API</a:t>
            </a:r>
          </a:p>
        </p:txBody>
      </p:sp>
      <p:sp>
        <p:nvSpPr>
          <p:cNvPr id="100025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26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 b="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027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0A2342"/>
                </a:solidFill>
                <a:latin typeface="Calibri"/>
                <a:ea typeface="Calibri"/>
              </a:rPr>
              <a:t>System Architecture</a:t>
            </a:r>
          </a:p>
        </p:txBody>
      </p:sp>
      <p:sp>
        <p:nvSpPr>
          <p:cNvPr id="100028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029" name="Layer1"/>
          <p:cNvSpPr txBox="1"/>
          <p:nvPr/>
        </p:nvSpPr>
        <p:spPr>
          <a:xfrm>
            <a:off x="720000" y="1008000"/>
            <a:ext cx="10620000" cy="648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BROWSER (Web UI)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HTML + CSS + Vanilla JS  |  User Form  |  Marked.js Markdown Renderer  |  Fetch API</a:t>
            </a:r>
          </a:p>
        </p:txBody>
      </p:sp>
      <p:sp>
        <p:nvSpPr>
          <p:cNvPr id="100030" name="Arrow1"/>
          <p:cNvSpPr txBox="1"/>
          <p:nvPr/>
        </p:nvSpPr>
        <p:spPr>
          <a:xfrm>
            <a:off x="5040000" y="1728000"/>
            <a:ext cx="1800000" cy="288000"/>
          </a:xfrm>
          <a:prstGeom prst="rect">
            <a:avLst/>
          </a:prstGeom>
        </p:spPr>
        <p:txBody>
          <a:bodyPr/>
          <a:lstStyle/>
          <a:p>
            <a:r>
              <a:rPr lang="en-US" sz="1300" b="0">
                <a:solidFill>
                  <a:srgbClr val="0F62FE"/>
                </a:solidFill>
                <a:latin typeface="Calibri"/>
                <a:ea typeface="Calibri"/>
              </a:rPr>
              <a:t>HTTP REST API</a:t>
            </a:r>
          </a:p>
        </p:txBody>
      </p:sp>
      <p:sp>
        <p:nvSpPr>
          <p:cNvPr id="100031" name="Layer2"/>
          <p:cNvSpPr txBox="1"/>
          <p:nvPr/>
        </p:nvSpPr>
        <p:spPr>
          <a:xfrm>
            <a:off x="720000" y="2088000"/>
            <a:ext cx="10620000" cy="64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FLASK BACKEND (app.py)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Plan Agent  |  Q&amp;A Agent  |  Guardrails Module  |  Disclaimer Generator  |  .md File Export</a:t>
            </a:r>
          </a:p>
        </p:txBody>
      </p:sp>
      <p:sp>
        <p:nvSpPr>
          <p:cNvPr id="100032" name="GuardBox"/>
          <p:cNvSpPr txBox="1"/>
          <p:nvPr/>
        </p:nvSpPr>
        <p:spPr>
          <a:xfrm>
            <a:off x="720000" y="2844000"/>
            <a:ext cx="3240000" cy="1260000"/>
          </a:xfrm>
          <a:prstGeom prst="rect">
            <a:avLst/>
          </a:prstGeom>
          <a:solidFill>
            <a:srgbClr val="FFF1F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guardrails.py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Input validation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Harmful content check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HAM principles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Output sanitisation</a:t>
            </a:r>
          </a:p>
        </p:txBody>
      </p:sp>
      <p:sp>
        <p:nvSpPr>
          <p:cNvPr id="100033" name="DisclBox"/>
          <p:cNvSpPr txBox="1"/>
          <p:nvPr/>
        </p:nvSpPr>
        <p:spPr>
          <a:xfrm>
            <a:off x="4428000" y="2844000"/>
            <a:ext cx="3240000" cy="1260000"/>
          </a:xfrm>
          <a:prstGeom prst="rect">
            <a:avLst/>
          </a:prstGeom>
          <a:solidFill>
            <a:srgbClr val="FFF8E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disclaimer.py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Medical disclaimer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Condition-specific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Q&amp;A disclaimers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WHO / FDA aligned</a:t>
            </a:r>
          </a:p>
        </p:txBody>
      </p:sp>
      <p:sp>
        <p:nvSpPr>
          <p:cNvPr id="100034" name="PlansBox"/>
          <p:cNvSpPr txBox="1"/>
          <p:nvPr/>
        </p:nvSpPr>
        <p:spPr>
          <a:xfrm>
            <a:off x="8100000" y="2844000"/>
            <a:ext cx="3240000" cy="1260000"/>
          </a:xfrm>
          <a:prstGeom prst="rect">
            <a:avLst/>
          </a:prstGeom>
          <a:solidFill>
            <a:srgbClr val="EDFAF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plans/ (.md Export)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Auto-saved per request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YAML frontmatter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Download via API</a:t>
            </a:r>
          </a:p>
          <a:p>
            <a:r>
              <a:rPr lang="en-US" sz="1400" b="0">
                <a:solidFill>
                  <a:srgbClr val="1A1F2E"/>
                </a:solidFill>
                <a:latin typeface="Calibri"/>
                <a:ea typeface="Calibri"/>
              </a:rPr>
              <a:t>- Timestamped files</a:t>
            </a:r>
          </a:p>
        </p:txBody>
      </p:sp>
      <p:sp>
        <p:nvSpPr>
          <p:cNvPr id="100035" name="Arrow2"/>
          <p:cNvSpPr txBox="1"/>
          <p:nvPr/>
        </p:nvSpPr>
        <p:spPr>
          <a:xfrm>
            <a:off x="4680000" y="4212000"/>
            <a:ext cx="2520000" cy="288000"/>
          </a:xfrm>
          <a:prstGeom prst="rect">
            <a:avLst/>
          </a:prstGeom>
        </p:spPr>
        <p:txBody>
          <a:bodyPr/>
          <a:lstStyle/>
          <a:p>
            <a:r>
              <a:rPr lang="en-US" sz="1300" b="0">
                <a:solidFill>
                  <a:srgbClr val="6929C4"/>
                </a:solidFill>
                <a:latin typeface="Calibri"/>
                <a:ea typeface="Calibri"/>
              </a:rPr>
              <a:t>ibm-watsonx-ai SDK</a:t>
            </a:r>
          </a:p>
        </p:txBody>
      </p:sp>
      <p:sp>
        <p:nvSpPr>
          <p:cNvPr id="100036" name="Layer3"/>
          <p:cNvSpPr txBox="1"/>
          <p:nvPr/>
        </p:nvSpPr>
        <p:spPr>
          <a:xfrm>
            <a:off x="720000" y="4572000"/>
            <a:ext cx="10620000" cy="648000"/>
          </a:xfrm>
          <a:prstGeom prst="rect">
            <a:avLst/>
          </a:prstGeom>
          <a:solidFill>
            <a:srgbClr val="6929C4"/>
          </a:solidFill>
        </p:spPr>
        <p:txBody>
          <a:bodyPr/>
          <a:lstStyle/>
          <a:p>
            <a:r>
              <a:rPr lang="en-US" sz="1500" b="1">
                <a:solidFill>
                  <a:srgbClr val="FFFFFF"/>
                </a:solidFill>
                <a:latin typeface="Calibri"/>
                <a:ea typeface="Calibri"/>
              </a:rPr>
              <a:t>IBM WATSONX.AI CLOUD  |  Model: ibm/granite-3-3-8b-instruct  |  Max 2048 tokens  |  Temperature 0.7</a:t>
            </a:r>
          </a:p>
        </p:txBody>
      </p:sp>
      <p:sp>
        <p:nvSpPr>
          <p:cNvPr id="100037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38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039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0A2342"/>
                </a:solidFill>
                <a:latin typeface="Calibri"/>
                <a:ea typeface="Calibri"/>
              </a:rPr>
              <a:t>Key Features</a:t>
            </a:r>
          </a:p>
        </p:txBody>
      </p:sp>
      <p:sp>
        <p:nvSpPr>
          <p:cNvPr id="100040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041" name="F1"/>
          <p:cNvSpPr txBox="1"/>
          <p:nvPr/>
        </p:nvSpPr>
        <p:spPr>
          <a:xfrm>
            <a:off x="540000" y="1008000"/>
            <a:ext cx="3420000" cy="108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IBM Granite LLM</a:t>
            </a:r>
          </a:p>
          <a:p>
            <a:r>
              <a:rPr lang="en-US" sz="1400" b="0">
                <a:solidFill>
                  <a:srgbClr val="1A1F2E"/>
                </a:solidFill>
              </a:rPr>
              <a:t>ibm/granite-3-3-8b-instruct via Watsonx.ai</a:t>
            </a:r>
          </a:p>
        </p:txBody>
      </p:sp>
      <p:sp>
        <p:nvSpPr>
          <p:cNvPr id="100042" name="F2"/>
          <p:cNvSpPr txBox="1"/>
          <p:nvPr/>
        </p:nvSpPr>
        <p:spPr>
          <a:xfrm>
            <a:off x="4320000" y="1008000"/>
            <a:ext cx="3420000" cy="1080000"/>
          </a:xfrm>
          <a:prstGeom prst="rect">
            <a:avLst/>
          </a:prstGeom>
          <a:solidFill>
            <a:srgbClr val="F3EFFF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User Profiling</a:t>
            </a:r>
          </a:p>
          <a:p>
            <a:r>
              <a:rPr lang="en-US" sz="1400" b="0">
                <a:solidFill>
                  <a:srgbClr val="1A1F2E"/>
                </a:solidFill>
              </a:rPr>
              <a:t>Name, age, diet type, medical history, location</a:t>
            </a:r>
          </a:p>
        </p:txBody>
      </p:sp>
      <p:sp>
        <p:nvSpPr>
          <p:cNvPr id="100043" name="F3"/>
          <p:cNvSpPr txBox="1"/>
          <p:nvPr/>
        </p:nvSpPr>
        <p:spPr>
          <a:xfrm>
            <a:off x="8100000" y="1008000"/>
            <a:ext cx="3420000" cy="1080000"/>
          </a:xfrm>
          <a:prstGeom prst="rect">
            <a:avLst/>
          </a:prstGeom>
          <a:solidFill>
            <a:srgbClr val="EDFAF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7-Day Meal Plans</a:t>
            </a:r>
          </a:p>
          <a:p>
            <a:r>
              <a:rPr lang="en-US" sz="1400" b="0">
                <a:solidFill>
                  <a:srgbClr val="1A1F2E"/>
                </a:solidFill>
              </a:rPr>
              <a:t>Breakfast, lunch, dinner &amp; snack for each day</a:t>
            </a:r>
          </a:p>
        </p:txBody>
      </p:sp>
      <p:sp>
        <p:nvSpPr>
          <p:cNvPr id="100044" name="F4"/>
          <p:cNvSpPr txBox="1"/>
          <p:nvPr/>
        </p:nvSpPr>
        <p:spPr>
          <a:xfrm>
            <a:off x="540000" y="2232000"/>
            <a:ext cx="3420000" cy="1080000"/>
          </a:xfrm>
          <a:prstGeom prst="rect">
            <a:avLst/>
          </a:prstGeom>
          <a:solidFill>
            <a:srgbClr val="FFF1F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Ethical Guardrails</a:t>
            </a:r>
          </a:p>
          <a:p>
            <a:r>
              <a:rPr lang="en-US" sz="1400" b="0">
                <a:solidFill>
                  <a:srgbClr val="1A1F2E"/>
                </a:solidFill>
              </a:rPr>
              <a:t>Input validation, harmful keyword blocking, output scan</a:t>
            </a:r>
          </a:p>
        </p:txBody>
      </p:sp>
      <p:sp>
        <p:nvSpPr>
          <p:cNvPr id="100045" name="F5"/>
          <p:cNvSpPr txBox="1"/>
          <p:nvPr/>
        </p:nvSpPr>
        <p:spPr>
          <a:xfrm>
            <a:off x="4320000" y="2232000"/>
            <a:ext cx="3420000" cy="1080000"/>
          </a:xfrm>
          <a:prstGeom prst="rect">
            <a:avLst/>
          </a:prstGeom>
          <a:solidFill>
            <a:srgbClr val="FFF8E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Q&amp;A Agent</a:t>
            </a:r>
          </a:p>
          <a:p>
            <a:r>
              <a:rPr lang="en-US" sz="1400" b="0">
                <a:solidFill>
                  <a:srgbClr val="1A1F2E"/>
                </a:solidFill>
              </a:rPr>
              <a:t>Context-aware nutrition Q&amp;A with user profile</a:t>
            </a:r>
          </a:p>
        </p:txBody>
      </p:sp>
      <p:sp>
        <p:nvSpPr>
          <p:cNvPr id="100046" name="F6"/>
          <p:cNvSpPr txBox="1"/>
          <p:nvPr/>
        </p:nvSpPr>
        <p:spPr>
          <a:xfrm>
            <a:off x="8100000" y="2232000"/>
            <a:ext cx="3420000" cy="108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Markdown Export</a:t>
            </a:r>
          </a:p>
          <a:p>
            <a:r>
              <a:rPr lang="en-US" sz="1400" b="0">
                <a:solidFill>
                  <a:srgbClr val="1A1F2E"/>
                </a:solidFill>
              </a:rPr>
              <a:t>Auto-saves plan as .md with YAML frontmatter</a:t>
            </a:r>
          </a:p>
        </p:txBody>
      </p:sp>
      <p:sp>
        <p:nvSpPr>
          <p:cNvPr id="100047" name="F7"/>
          <p:cNvSpPr txBox="1"/>
          <p:nvPr/>
        </p:nvSpPr>
        <p:spPr>
          <a:xfrm>
            <a:off x="540000" y="3456000"/>
            <a:ext cx="3420000" cy="1080000"/>
          </a:xfrm>
          <a:prstGeom prst="rect">
            <a:avLst/>
          </a:prstGeom>
          <a:solidFill>
            <a:srgbClr val="F3EFFF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HAM Principles</a:t>
            </a:r>
          </a:p>
          <a:p>
            <a:r>
              <a:rPr lang="en-US" sz="1400" b="0">
                <a:solidFill>
                  <a:srgbClr val="1A1F2E"/>
                </a:solidFill>
              </a:rPr>
              <a:t>Helpful · Accurate · Meaningful AI responses</a:t>
            </a:r>
          </a:p>
        </p:txBody>
      </p:sp>
      <p:sp>
        <p:nvSpPr>
          <p:cNvPr id="100048" name="F8"/>
          <p:cNvSpPr txBox="1"/>
          <p:nvPr/>
        </p:nvSpPr>
        <p:spPr>
          <a:xfrm>
            <a:off x="4320000" y="3456000"/>
            <a:ext cx="3420000" cy="1080000"/>
          </a:xfrm>
          <a:prstGeom prst="rect">
            <a:avLst/>
          </a:prstGeom>
          <a:solidFill>
            <a:srgbClr val="EDFAF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Medical Disclaimers</a:t>
            </a:r>
          </a:p>
          <a:p>
            <a:r>
              <a:rPr lang="en-US" sz="1400" b="0">
                <a:solidFill>
                  <a:srgbClr val="1A1F2E"/>
                </a:solidFill>
              </a:rPr>
              <a:t>Condition-specific, WHO/FDA-aligned safety notices</a:t>
            </a:r>
          </a:p>
        </p:txBody>
      </p:sp>
      <p:sp>
        <p:nvSpPr>
          <p:cNvPr id="100049" name="F9"/>
          <p:cNvSpPr txBox="1"/>
          <p:nvPr/>
        </p:nvSpPr>
        <p:spPr>
          <a:xfrm>
            <a:off x="8100000" y="3456000"/>
            <a:ext cx="3420000" cy="1080000"/>
          </a:xfrm>
          <a:prstGeom prst="rect">
            <a:avLst/>
          </a:prstGeom>
          <a:solidFill>
            <a:srgbClr val="FFF1F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Demo Mode</a:t>
            </a:r>
          </a:p>
          <a:p>
            <a:r>
              <a:rPr lang="en-US" sz="1400" b="0">
                <a:solidFill>
                  <a:srgbClr val="1A1F2E"/>
                </a:solidFill>
              </a:rPr>
              <a:t>Fully functional without API key — no setup barrier</a:t>
            </a:r>
          </a:p>
        </p:txBody>
      </p:sp>
      <p:sp>
        <p:nvSpPr>
          <p:cNvPr id="100050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51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r>
              <a:rPr lang="en-US" sz="1100">
                <a:solidFill>
                  <a:srgbClr val="FFFFFF"/>
                </a:solidFill>
              </a:rPr>
              <a:t>NutriGuide Agentic AI  |  IBM Granite</a:t>
            </a:r>
          </a:p>
        </p:txBody>
      </p:sp>
      <p:sp>
        <p:nvSpPr>
          <p:cNvPr id="100052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Web Application UI — Screenshots</a:t>
            </a:r>
          </a:p>
        </p:txBody>
      </p:sp>
      <p:sp>
        <p:nvSpPr>
          <p:cNvPr id="100053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054" name="Screen1"/>
          <p:cNvSpPr txBox="1"/>
          <p:nvPr/>
        </p:nvSpPr>
        <p:spPr>
          <a:xfrm>
            <a:off x="540000" y="1008000"/>
            <a:ext cx="10800000" cy="396000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r>
              <a:rPr lang="en-US" sz="1400" b="0">
                <a:solidFill>
                  <a:srgbClr val="FFFFFF"/>
                </a:solidFill>
              </a:rPr>
              <a:t>SCREEN 1 — Home Page &amp; Profile Form</a:t>
            </a:r>
          </a:p>
          <a:p>
            <a:endParaRPr lang="en-US" sz="1400" b="0">
              <a:solidFill>
                <a:srgbClr val="FFFFFF"/>
              </a:solidFill>
            </a:endParaRPr>
          </a:p>
          <a:p>
            <a:r>
              <a:rPr lang="en-US" sz="1400" b="0">
                <a:solidFill>
                  <a:srgbClr val="FFFFFF"/>
                </a:solidFill>
              </a:rPr>
              <a:t>  Header: NutriGuide AI  |  IBM Granite 3.3  |  Watsonx.ai  |  Ethical AI</a:t>
            </a:r>
          </a:p>
          <a:p>
            <a:endParaRPr lang="en-US" sz="1400" b="0">
              <a:solidFill>
                <a:srgbClr val="FFFFFF"/>
              </a:solidFill>
            </a:endParaRPr>
          </a:p>
          <a:p>
            <a:r>
              <a:rPr lang="en-US" sz="1400" b="0">
                <a:solidFill>
                  <a:srgbClr val="FFFFFF"/>
                </a:solidFill>
              </a:rPr>
              <a:t>  Left Panel — User Profile Form:</a:t>
            </a:r>
          </a:p>
          <a:p>
            <a:r>
              <a:rPr lang="en-US" sz="1400" b="0">
                <a:solidFill>
                  <a:srgbClr val="FFFFFF"/>
                </a:solidFill>
              </a:rPr>
              <a:t>    - Full Name (text input)</a:t>
            </a:r>
          </a:p>
          <a:p>
            <a:r>
              <a:rPr lang="en-US" sz="1400" b="0">
                <a:solidFill>
                  <a:srgbClr val="FFFFFF"/>
                </a:solidFill>
              </a:rPr>
              <a:t>    - Age (number input, 5-110)</a:t>
            </a:r>
          </a:p>
          <a:p>
            <a:r>
              <a:rPr lang="en-US" sz="1400" b="0">
                <a:solidFill>
                  <a:srgbClr val="FFFFFF"/>
                </a:solidFill>
              </a:rPr>
              <a:t>    - Diet Preference (dropdown: Vegetarian / Non-Veg / Vegan / Pescatarian)</a:t>
            </a:r>
          </a:p>
          <a:p>
            <a:r>
              <a:rPr lang="en-US" sz="1400" b="0">
                <a:solidFill>
                  <a:srgbClr val="FFFFFF"/>
                </a:solidFill>
              </a:rPr>
              <a:t>    - Medical History (textarea)</a:t>
            </a:r>
          </a:p>
          <a:p>
            <a:r>
              <a:rPr lang="en-US" sz="1400" b="0">
                <a:solidFill>
                  <a:srgbClr val="FFFFFF"/>
                </a:solidFill>
              </a:rPr>
              <a:t>    - City + Country (side by side)</a:t>
            </a:r>
          </a:p>
          <a:p>
            <a:r>
              <a:rPr lang="en-US" sz="1400" b="0">
                <a:solidFill>
                  <a:srgbClr val="FFFFFF"/>
                </a:solidFill>
              </a:rPr>
              <a:t>    - [Generate My Nutrition Plan] button</a:t>
            </a:r>
          </a:p>
          <a:p>
            <a:r>
              <a:rPr lang="en-US" sz="1400" b="0">
                <a:solidFill>
                  <a:srgbClr val="FFFFFF"/>
                </a:solidFill>
              </a:rPr>
              <a:t>    - LLM status indicator (Connected / Demo Mode)</a:t>
            </a:r>
          </a:p>
          <a:p>
            <a:endParaRPr lang="en-US" sz="1400" b="0">
              <a:solidFill>
                <a:srgbClr val="FFFFFF"/>
              </a:solidFill>
            </a:endParaRPr>
          </a:p>
          <a:p>
            <a:r>
              <a:rPr lang="en-US" sz="1400" b="0">
                <a:solidFill>
                  <a:srgbClr val="FFFFFF"/>
                </a:solidFill>
              </a:rPr>
              <a:t>  Right Panel — Welcome State:</a:t>
            </a:r>
          </a:p>
          <a:p>
            <a:r>
              <a:rPr lang="en-US" sz="1400" b="0">
                <a:solidFill>
                  <a:srgbClr val="FFFFFF"/>
                </a:solidFill>
              </a:rPr>
              <a:t>    - Tabs: Nutrition Plan  |  Ask NutriGuide</a:t>
            </a:r>
          </a:p>
          <a:p>
            <a:r>
              <a:rPr lang="en-US" sz="1400" b="0">
                <a:solidFill>
                  <a:srgbClr val="FFFFFF"/>
                </a:solidFill>
              </a:rPr>
              <a:t>    - Feature cards: 7-Day Plan, Macros, Grocery List, Hydration, Download .md</a:t>
            </a:r>
          </a:p>
        </p:txBody>
      </p:sp>
      <p:sp>
        <p:nvSpPr>
          <p:cNvPr id="100055" name="URL"/>
          <p:cNvSpPr txBox="1"/>
          <p:nvPr/>
        </p:nvSpPr>
        <p:spPr>
          <a:xfrm>
            <a:off x="540000" y="5112000"/>
            <a:ext cx="10800000" cy="288000"/>
          </a:xfrm>
          <a:prstGeom prst="rect">
            <a:avLst/>
          </a:prstGeom>
        </p:spPr>
        <p:txBody>
          <a:bodyPr/>
          <a:lstStyle/>
          <a:p>
            <a:r>
              <a:rPr lang="en-US" sz="1300" b="0">
                <a:solidFill>
                  <a:srgbClr val="9EF0AC"/>
                </a:solidFill>
              </a:rPr>
              <a:t>http://localhost:5000  |  Flask Development Server  |  Demo Mode Active</a:t>
            </a:r>
          </a:p>
        </p:txBody>
      </p:sp>
      <p:sp>
        <p:nvSpPr>
          <p:cNvPr id="100056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57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r>
              <a:rPr lang="en-US" sz="1100">
                <a:solidFill>
                  <a:srgbClr val="FFFFFF"/>
                </a:solidFill>
              </a:rPr>
              <a:t>NutriGuide Agentic AI  |  IBM Granite</a:t>
            </a:r>
          </a:p>
        </p:txBody>
      </p:sp>
      <p:sp>
        <p:nvSpPr>
          <p:cNvPr id="100058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Screenshot — Generating a Nutrition Plan</a:t>
            </a:r>
          </a:p>
        </p:txBody>
      </p:sp>
      <p:sp>
        <p:nvSpPr>
          <p:cNvPr id="100059" name="FormPanel"/>
          <p:cNvSpPr txBox="1"/>
          <p:nvPr/>
        </p:nvSpPr>
        <p:spPr>
          <a:xfrm>
            <a:off x="540000" y="900000"/>
            <a:ext cx="4680000" cy="396000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r>
              <a:rPr lang="en-US" sz="1400" b="0">
                <a:solidFill>
                  <a:srgbClr val="A8C8FF"/>
                </a:solidFill>
              </a:rPr>
              <a:t>USER PROFILE FORM (Left Panel)</a:t>
            </a:r>
          </a:p>
          <a:p>
            <a:endParaRPr lang="en-US" sz="1400" b="0">
              <a:solidFill>
                <a:srgbClr val="A8C8FF"/>
              </a:solidFill>
            </a:endParaRPr>
          </a:p>
          <a:p>
            <a:r>
              <a:rPr lang="en-US" sz="1400" b="0">
                <a:solidFill>
                  <a:srgbClr val="A8C8FF"/>
                </a:solidFill>
              </a:rPr>
              <a:t>Full Name:          Priya Sharma</a:t>
            </a:r>
          </a:p>
          <a:p>
            <a:r>
              <a:rPr lang="en-US" sz="1400" b="0">
                <a:solidFill>
                  <a:srgbClr val="A8C8FF"/>
                </a:solidFill>
              </a:rPr>
              <a:t>Age:                35</a:t>
            </a:r>
          </a:p>
          <a:p>
            <a:r>
              <a:rPr lang="en-US" sz="1400" b="0">
                <a:solidFill>
                  <a:srgbClr val="A8C8FF"/>
                </a:solidFill>
              </a:rPr>
              <a:t>Diet Preference:    Vegetarian</a:t>
            </a:r>
          </a:p>
          <a:p>
            <a:r>
              <a:rPr lang="en-US" sz="1400" b="0">
                <a:solidFill>
                  <a:srgbClr val="A8C8FF"/>
                </a:solidFill>
              </a:rPr>
              <a:t>Medical History:    Type 2 diabetes</a:t>
            </a:r>
          </a:p>
          <a:p>
            <a:r>
              <a:rPr lang="en-US" sz="1400" b="0">
                <a:solidFill>
                  <a:srgbClr val="A8C8FF"/>
                </a:solidFill>
              </a:rPr>
              <a:t>City:               Mumbai</a:t>
            </a:r>
          </a:p>
          <a:p>
            <a:r>
              <a:rPr lang="en-US" sz="1400" b="0">
                <a:solidFill>
                  <a:srgbClr val="A8C8FF"/>
                </a:solidFill>
              </a:rPr>
              <a:t>Country:            India</a:t>
            </a:r>
          </a:p>
          <a:p>
            <a:endParaRPr lang="en-US" sz="1400" b="0">
              <a:solidFill>
                <a:srgbClr val="A8C8FF"/>
              </a:solidFill>
            </a:endParaRPr>
          </a:p>
          <a:p>
            <a:r>
              <a:rPr lang="en-US" sz="1400" b="0">
                <a:solidFill>
                  <a:srgbClr val="A8C8FF"/>
                </a:solidFill>
              </a:rPr>
              <a:t>[  Generate My Nutrition Plan  ]</a:t>
            </a:r>
          </a:p>
          <a:p>
            <a:endParaRPr lang="en-US" sz="1400" b="0">
              <a:solidFill>
                <a:srgbClr val="A8C8FF"/>
              </a:solidFill>
            </a:endParaRPr>
          </a:p>
          <a:p>
            <a:r>
              <a:rPr lang="en-US" sz="1400" b="0">
                <a:solidFill>
                  <a:srgbClr val="A8C8FF"/>
                </a:solidFill>
              </a:rPr>
              <a:t>Status: IBM Granite connected (Watsonx.ai)</a:t>
            </a:r>
          </a:p>
        </p:txBody>
      </p:sp>
      <p:sp>
        <p:nvSpPr>
          <p:cNvPr id="100060" name="LoadingPanel"/>
          <p:cNvSpPr txBox="1"/>
          <p:nvPr/>
        </p:nvSpPr>
        <p:spPr>
          <a:xfrm>
            <a:off x="5580000" y="900000"/>
            <a:ext cx="5760000" cy="3960000"/>
          </a:xfrm>
          <a:prstGeom prst="rect">
            <a:avLst/>
          </a:prstGeom>
          <a:solidFill>
            <a:srgbClr val="1A1F6E"/>
          </a:solidFill>
        </p:spPr>
        <p:txBody>
          <a:bodyPr/>
          <a:lstStyle/>
          <a:p>
            <a:r>
              <a:rPr lang="en-US" sz="1400" b="0">
                <a:solidFill>
                  <a:srgbClr val="A8C8FF"/>
                </a:solidFill>
              </a:rPr>
              <a:t>PLAN GENERATION (Right Panel)</a:t>
            </a:r>
          </a:p>
          <a:p>
            <a:endParaRPr lang="en-US" sz="1400" b="0">
              <a:solidFill>
                <a:srgbClr val="A8C8FF"/>
              </a:solidFill>
            </a:endParaRPr>
          </a:p>
          <a:p>
            <a:r>
              <a:rPr lang="en-US" sz="1400" b="0">
                <a:solidFill>
                  <a:srgbClr val="A8C8FF"/>
                </a:solidFill>
              </a:rPr>
              <a:t>          [  Spinner Animation  ]</a:t>
            </a:r>
          </a:p>
          <a:p>
            <a:endParaRPr lang="en-US" sz="1400" b="0">
              <a:solidFill>
                <a:srgbClr val="A8C8FF"/>
              </a:solidFill>
            </a:endParaRPr>
          </a:p>
          <a:p>
            <a:r>
              <a:rPr lang="en-US" sz="1400" b="0">
                <a:solidFill>
                  <a:srgbClr val="A8C8FF"/>
                </a:solidFill>
              </a:rPr>
              <a:t>   IBM Granite is crafting your</a:t>
            </a:r>
          </a:p>
          <a:p>
            <a:r>
              <a:rPr lang="en-US" sz="1400" b="0">
                <a:solidFill>
                  <a:srgbClr val="A8C8FF"/>
                </a:solidFill>
              </a:rPr>
              <a:t>   personalized plan...</a:t>
            </a:r>
          </a:p>
          <a:p>
            <a:endParaRPr lang="en-US" sz="1400" b="0">
              <a:solidFill>
                <a:srgbClr val="A8C8FF"/>
              </a:solidFill>
            </a:endParaRPr>
          </a:p>
          <a:p>
            <a:r>
              <a:rPr lang="en-US" sz="1400" b="0">
                <a:solidFill>
                  <a:srgbClr val="A8C8FF"/>
                </a:solidFill>
              </a:rPr>
              <a:t>   This may take a few seconds</a:t>
            </a:r>
          </a:p>
          <a:p>
            <a:endParaRPr lang="en-US" sz="1400" b="0">
              <a:solidFill>
                <a:srgbClr val="A8C8FF"/>
              </a:solidFill>
            </a:endParaRPr>
          </a:p>
          <a:p>
            <a:r>
              <a:rPr lang="en-US" sz="1400" b="0">
                <a:solidFill>
                  <a:srgbClr val="A8C8FF"/>
                </a:solidFill>
              </a:rPr>
              <a:t>Model: IBM Granite 3.3 8B Instruct</a:t>
            </a:r>
          </a:p>
          <a:p>
            <a:r>
              <a:rPr lang="en-US" sz="1400" b="0">
                <a:solidFill>
                  <a:srgbClr val="A8C8FF"/>
                </a:solidFill>
              </a:rPr>
              <a:t>Platform: Watsonx.ai</a:t>
            </a:r>
          </a:p>
        </p:txBody>
      </p:sp>
      <p:sp>
        <p:nvSpPr>
          <p:cNvPr id="100061" name="FlowNote"/>
          <p:cNvSpPr txBox="1"/>
          <p:nvPr/>
        </p:nvSpPr>
        <p:spPr>
          <a:xfrm>
            <a:off x="540000" y="5040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300" b="0">
                <a:solidFill>
                  <a:srgbClr val="9EF0AC"/>
                </a:solidFill>
              </a:rPr>
              <a:t>Agent Flow:  Form Submit  →  Input Validation  →  Guardrails Check  →  Granite Prompt  →  Plan Generation  →  .md Save  →  Render</a:t>
            </a:r>
          </a:p>
        </p:txBody>
      </p:sp>
      <p:sp>
        <p:nvSpPr>
          <p:cNvPr id="100062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63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064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200" b="1">
                <a:solidFill>
                  <a:srgbClr val="0A2342"/>
                </a:solidFill>
                <a:latin typeface="Calibri"/>
                <a:ea typeface="Calibri"/>
              </a:rPr>
              <a:t>Screenshot — Generated Nutrition Plan Output</a:t>
            </a:r>
          </a:p>
        </p:txBody>
      </p:sp>
      <p:sp>
        <p:nvSpPr>
          <p:cNvPr id="100065" name="MetaBar"/>
          <p:cNvSpPr txBox="1"/>
          <p:nvPr/>
        </p:nvSpPr>
        <p:spPr>
          <a:xfrm>
            <a:off x="540000" y="900000"/>
            <a:ext cx="10800000" cy="324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200" b="0">
                <a:solidFill>
                  <a:srgbClr val="0043A8"/>
                </a:solidFill>
              </a:rPr>
              <a:t>  Priya Sharma  35yrs  Vegetarian    Mumbai, India    IBM Granite 3.3 8B Instruct    Generated: 15 Jan 2024    High-risk: diabetes</a:t>
            </a:r>
          </a:p>
        </p:txBody>
      </p:sp>
      <p:sp>
        <p:nvSpPr>
          <p:cNvPr id="100066" name="ActionBar"/>
          <p:cNvSpPr txBox="1"/>
          <p:nvPr/>
        </p:nvSpPr>
        <p:spPr>
          <a:xfrm>
            <a:off x="540000" y="1260000"/>
            <a:ext cx="10800000" cy="324000"/>
          </a:xfrm>
          <a:prstGeom prst="rect">
            <a:avLst/>
          </a:prstGeom>
          <a:solidFill>
            <a:srgbClr val="F7F8FA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  [ Download Plan (.md) ]     [ Copy to Clipboard ]     [ New Plan ]</a:t>
            </a:r>
          </a:p>
        </p:txBody>
      </p:sp>
      <p:sp>
        <p:nvSpPr>
          <p:cNvPr id="100067" name="PlanContent"/>
          <p:cNvSpPr txBox="1"/>
          <p:nvPr/>
        </p:nvSpPr>
        <p:spPr>
          <a:xfrm>
            <a:off x="540000" y="1656000"/>
            <a:ext cx="10800000" cy="3240000"/>
          </a:xfrm>
          <a:prstGeom prst="rect">
            <a:avLst/>
          </a:prstGeom>
          <a:solidFill>
            <a:srgbClr val="FAFAFA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Personalized 7-Day Nutrition Plan for Priya Sharma</a:t>
            </a:r>
          </a:p>
          <a:p>
            <a:r>
              <a:rPr lang="en-US" sz="1300" b="0">
                <a:solidFill>
                  <a:srgbClr val="1A1F2E"/>
                </a:solidFill>
              </a:rPr>
              <a:t>Generated by NutriGuide AI | January 15, 2024</a:t>
            </a:r>
          </a:p>
          <a:p>
            <a:r>
              <a:rPr lang="en-US" sz="1300" b="0">
                <a:solidFill>
                  <a:srgbClr val="1A1F2E"/>
                </a:solidFill>
              </a:rPr>
              <a:t>Location: Mumbai, India | Diet: Vegetarian | Age: 35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DAILY NUTRITIONAL TARGETS</a:t>
            </a:r>
          </a:p>
          <a:p>
            <a:r>
              <a:rPr lang="en-US" sz="1300" b="0">
                <a:solidFill>
                  <a:srgbClr val="1A1F2E"/>
                </a:solidFill>
              </a:rPr>
              <a:t>  Calories: ~2000 kcal</a:t>
            </a:r>
          </a:p>
          <a:p>
            <a:r>
              <a:rPr lang="en-US" sz="1300" b="0">
                <a:solidFill>
                  <a:srgbClr val="1A1F2E"/>
                </a:solidFill>
              </a:rPr>
              <a:t>  Protein: 100g (20%)    Carbohydrates: 250g (50%)    Healthy Fats: 67g (30%)</a:t>
            </a:r>
          </a:p>
          <a:p>
            <a:r>
              <a:rPr lang="en-US" sz="1300" b="0">
                <a:solidFill>
                  <a:srgbClr val="1A1F2E"/>
                </a:solidFill>
              </a:rPr>
              <a:t>  Fiber: 25-38g          Water: 8-10 glasses/day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DIETARY NOTES (Diabetes Management)</a:t>
            </a:r>
          </a:p>
          <a:p>
            <a:r>
              <a:rPr lang="en-US" sz="1300" b="0">
                <a:solidFill>
                  <a:srgbClr val="1A1F2E"/>
                </a:solidFill>
              </a:rPr>
              <a:t>  Limit refined sugars, white bread, high-GI foods. Prefer complex carbohydrates.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7-DAY MEAL PLAN (Day 1 - Monday)</a:t>
            </a:r>
          </a:p>
          <a:p>
            <a:r>
              <a:rPr lang="en-US" sz="1300" b="0">
                <a:solidFill>
                  <a:srgbClr val="1A1F2E"/>
                </a:solidFill>
              </a:rPr>
              <a:t>  Breakfast: Oatmeal with banana, nuts &amp; low-fat milk (~350 kcal)</a:t>
            </a:r>
          </a:p>
          <a:p>
            <a:r>
              <a:rPr lang="en-US" sz="1300" b="0">
                <a:solidFill>
                  <a:srgbClr val="1A1F2E"/>
                </a:solidFill>
              </a:rPr>
              <a:t>  Lunch:     Lentil soup + whole wheat roti + mixed salad (~500 kcal)</a:t>
            </a:r>
          </a:p>
          <a:p>
            <a:r>
              <a:rPr lang="en-US" sz="1300" b="0">
                <a:solidFill>
                  <a:srgbClr val="1A1F2E"/>
                </a:solidFill>
              </a:rPr>
              <a:t>  Snack:     Apple + handful of almonds (~200 kcal)</a:t>
            </a:r>
          </a:p>
          <a:p>
            <a:r>
              <a:rPr lang="en-US" sz="1300" b="0">
                <a:solidFill>
                  <a:srgbClr val="1A1F2E"/>
                </a:solidFill>
              </a:rPr>
              <a:t>  Dinner:    Grilled vegetables + brown rice + dal (~550 kcal)</a:t>
            </a:r>
          </a:p>
        </p:txBody>
      </p:sp>
      <p:sp>
        <p:nvSpPr>
          <p:cNvPr id="100068" name="DisclBox"/>
          <p:cNvSpPr txBox="1"/>
          <p:nvPr/>
        </p:nvSpPr>
        <p:spPr>
          <a:xfrm>
            <a:off x="540000" y="4968000"/>
            <a:ext cx="10800000" cy="432000"/>
          </a:xfrm>
          <a:prstGeom prst="rect">
            <a:avLst/>
          </a:prstGeom>
          <a:solidFill>
            <a:srgbClr val="FFF8E1"/>
          </a:solidFill>
        </p:spPr>
        <p:txBody>
          <a:bodyPr/>
          <a:lstStyle/>
          <a:p>
            <a:r>
              <a:rPr lang="en-US" sz="1200" b="0">
                <a:solidFill>
                  <a:srgbClr val="5A4000"/>
                </a:solidFill>
              </a:rPr>
              <a:t>Medical Disclaimer:  This plan is for informational purposes only. NOT medical advice. Consult your physician before dietary changes. (Diabetes: specialist supervision required.)</a:t>
            </a:r>
          </a:p>
        </p:txBody>
      </p:sp>
      <p:sp>
        <p:nvSpPr>
          <p:cNvPr id="100069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70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071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A2342"/>
                </a:solidFill>
                <a:latin typeface="Calibri"/>
                <a:ea typeface="Calibri"/>
              </a:rPr>
              <a:t>Sample Nutrition Plan — .md File Output</a:t>
            </a:r>
          </a:p>
        </p:txBody>
      </p:sp>
      <p:sp>
        <p:nvSpPr>
          <p:cNvPr id="100072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073" name="MDHeader"/>
          <p:cNvSpPr txBox="1"/>
          <p:nvPr/>
        </p:nvSpPr>
        <p:spPr>
          <a:xfrm>
            <a:off x="540000" y="972000"/>
            <a:ext cx="10800000" cy="252000"/>
          </a:xfrm>
          <a:prstGeom prst="rect">
            <a:avLst/>
          </a:prstGeom>
          <a:solidFill>
            <a:srgbClr val="F3EFFF"/>
          </a:solidFill>
        </p:spPr>
        <p:txBody>
          <a:bodyPr/>
          <a:lstStyle/>
          <a:p>
            <a:r>
              <a:rPr lang="en-US" sz="1200" b="1">
                <a:solidFill>
                  <a:srgbClr val="6929C4"/>
                </a:solidFill>
              </a:rPr>
              <a:t>File: plans/PriyaSharma_20240115_103000_nutrition_plan.md</a:t>
            </a:r>
          </a:p>
        </p:txBody>
      </p:sp>
      <p:sp>
        <p:nvSpPr>
          <p:cNvPr id="100074" name="FrontMatter"/>
          <p:cNvSpPr txBox="1"/>
          <p:nvPr/>
        </p:nvSpPr>
        <p:spPr>
          <a:xfrm>
            <a:off x="540000" y="1260000"/>
            <a:ext cx="10800000" cy="900000"/>
          </a:xfrm>
          <a:prstGeom prst="rect">
            <a:avLst/>
          </a:prstGeom>
          <a:solidFill>
            <a:srgbClr val="F7F8FA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--- YAML Frontmatter ---</a:t>
            </a:r>
          </a:p>
          <a:p>
            <a:r>
              <a:rPr lang="en-US" sz="1300" b="0">
                <a:solidFill>
                  <a:srgbClr val="1A1F2E"/>
                </a:solidFill>
              </a:rPr>
              <a:t>title:     "Nutrition Plan for Priya Sharma"</a:t>
            </a:r>
          </a:p>
          <a:p>
            <a:r>
              <a:rPr lang="en-US" sz="1300" b="0">
                <a:solidFill>
                  <a:srgbClr val="1A1F2E"/>
                </a:solidFill>
              </a:rPr>
              <a:t>generated: "2024-01-15 10:30:00"</a:t>
            </a:r>
          </a:p>
          <a:p>
            <a:r>
              <a:rPr lang="en-US" sz="1300" b="0">
                <a:solidFill>
                  <a:srgbClr val="1A1F2E"/>
                </a:solidFill>
              </a:rPr>
              <a:t>model:     "IBM Granite 3.3 8B Instruct (ibm/granite-3-3-8b-instruct)"</a:t>
            </a:r>
          </a:p>
          <a:p>
            <a:r>
              <a:rPr lang="en-US" sz="1300" b="0">
                <a:solidFill>
                  <a:srgbClr val="1A1F2E"/>
                </a:solidFill>
              </a:rPr>
              <a:t>app:       "NutriGuide Agentic AI"</a:t>
            </a:r>
          </a:p>
        </p:txBody>
      </p:sp>
      <p:sp>
        <p:nvSpPr>
          <p:cNvPr id="100075" name="MacroTable"/>
          <p:cNvSpPr txBox="1"/>
          <p:nvPr/>
        </p:nvSpPr>
        <p:spPr>
          <a:xfrm>
            <a:off x="540000" y="2232000"/>
            <a:ext cx="5220000" cy="216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Daily Nutritional Targets (from .md file)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Nutrient             Daily Target</a:t>
            </a:r>
          </a:p>
          <a:p>
            <a:r>
              <a:rPr lang="en-US" sz="1300" b="0">
                <a:solidFill>
                  <a:srgbClr val="1A1F2E"/>
                </a:solidFill>
              </a:rPr>
              <a:t>  ─────────────────────────────────</a:t>
            </a:r>
          </a:p>
          <a:p>
            <a:r>
              <a:rPr lang="en-US" sz="1300" b="0">
                <a:solidFill>
                  <a:srgbClr val="1A1F2E"/>
                </a:solidFill>
              </a:rPr>
              <a:t>  Calories             ~2000 kcal</a:t>
            </a:r>
          </a:p>
          <a:p>
            <a:r>
              <a:rPr lang="en-US" sz="1300" b="0">
                <a:solidFill>
                  <a:srgbClr val="1A1F2E"/>
                </a:solidFill>
              </a:rPr>
              <a:t>  Protein              100g  (20% of calories)</a:t>
            </a:r>
          </a:p>
          <a:p>
            <a:r>
              <a:rPr lang="en-US" sz="1300" b="0">
                <a:solidFill>
                  <a:srgbClr val="1A1F2E"/>
                </a:solidFill>
              </a:rPr>
              <a:t>  Carbohydrates        250g  (50% of calories)</a:t>
            </a:r>
          </a:p>
          <a:p>
            <a:r>
              <a:rPr lang="en-US" sz="1300" b="0">
                <a:solidFill>
                  <a:srgbClr val="1A1F2E"/>
                </a:solidFill>
              </a:rPr>
              <a:t>  Healthy Fats          67g  (30% of calories)</a:t>
            </a:r>
          </a:p>
          <a:p>
            <a:r>
              <a:rPr lang="en-US" sz="1300" b="0">
                <a:solidFill>
                  <a:srgbClr val="1A1F2E"/>
                </a:solidFill>
              </a:rPr>
              <a:t>  Fiber                25-38g</a:t>
            </a:r>
          </a:p>
          <a:p>
            <a:r>
              <a:rPr lang="en-US" sz="1300" b="0">
                <a:solidFill>
                  <a:srgbClr val="1A1F2E"/>
                </a:solidFill>
              </a:rPr>
              <a:t>  Water                8-10 glasses/day</a:t>
            </a:r>
          </a:p>
        </p:txBody>
      </p:sp>
      <p:sp>
        <p:nvSpPr>
          <p:cNvPr id="100076" name="MealTable"/>
          <p:cNvSpPr txBox="1"/>
          <p:nvPr/>
        </p:nvSpPr>
        <p:spPr>
          <a:xfrm>
            <a:off x="5940000" y="2232000"/>
            <a:ext cx="5400000" cy="2160000"/>
          </a:xfrm>
          <a:prstGeom prst="rect">
            <a:avLst/>
          </a:prstGeom>
          <a:solidFill>
            <a:srgbClr val="EDFAF1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7-Day Meal Plan — Day 1 (Monday)  [from .md file]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Meal        Food                                  kcal</a:t>
            </a:r>
          </a:p>
          <a:p>
            <a:r>
              <a:rPr lang="en-US" sz="1300" b="0">
                <a:solidFill>
                  <a:srgbClr val="1A1F2E"/>
                </a:solidFill>
              </a:rPr>
              <a:t>  ─────────────────────────────────────────────────────</a:t>
            </a:r>
          </a:p>
          <a:p>
            <a:r>
              <a:rPr lang="en-US" sz="1300" b="0">
                <a:solidFill>
                  <a:srgbClr val="1A1F2E"/>
                </a:solidFill>
              </a:rPr>
              <a:t>  Breakfast   Oatmeal + banana + nuts + milk        ~350</a:t>
            </a:r>
          </a:p>
          <a:p>
            <a:r>
              <a:rPr lang="en-US" sz="1300" b="0">
                <a:solidFill>
                  <a:srgbClr val="1A1F2E"/>
                </a:solidFill>
              </a:rPr>
              <a:t>  Lunch       Lentil soup + wheat roti + salad      ~500</a:t>
            </a:r>
          </a:p>
          <a:p>
            <a:r>
              <a:rPr lang="en-US" sz="1300" b="0">
                <a:solidFill>
                  <a:srgbClr val="1A1F2E"/>
                </a:solidFill>
              </a:rPr>
              <a:t>  Snack       Apple + almonds                       ~200</a:t>
            </a:r>
          </a:p>
          <a:p>
            <a:r>
              <a:rPr lang="en-US" sz="1300" b="0">
                <a:solidFill>
                  <a:srgbClr val="1A1F2E"/>
                </a:solidFill>
              </a:rPr>
              <a:t>  Dinner      Grilled veg + brown rice + dal        ~550</a:t>
            </a:r>
          </a:p>
          <a:p>
            <a:r>
              <a:rPr lang="en-US" sz="1300" b="0">
                <a:solidFill>
                  <a:srgbClr val="1A1F2E"/>
                </a:solidFill>
              </a:rPr>
              <a:t>  ─────────────────────────────────────────────────────</a:t>
            </a:r>
          </a:p>
          <a:p>
            <a:r>
              <a:rPr lang="en-US" sz="1300" b="0">
                <a:solidFill>
                  <a:srgbClr val="1A1F2E"/>
                </a:solidFill>
              </a:rPr>
              <a:t>  Day Total                                        ~1600 kcal</a:t>
            </a:r>
          </a:p>
        </p:txBody>
      </p:sp>
      <p:sp>
        <p:nvSpPr>
          <p:cNvPr id="100077" name="SaveNote"/>
          <p:cNvSpPr txBox="1"/>
          <p:nvPr/>
        </p:nvSpPr>
        <p:spPr>
          <a:xfrm>
            <a:off x="540000" y="4500000"/>
            <a:ext cx="10800000" cy="324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200" b="0">
                <a:solidFill>
                  <a:srgbClr val="0043A8"/>
                </a:solidFill>
              </a:rPr>
              <a:t>Plans are auto-saved on every generation  |  Download via API: GET /api/download-plan/&lt;filename&gt;  |  YAML frontmatter included</a:t>
            </a:r>
          </a:p>
        </p:txBody>
      </p:sp>
      <p:sp>
        <p:nvSpPr>
          <p:cNvPr id="100078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79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r>
              <a:rPr lang="en-US" sz="1100">
                <a:solidFill>
                  <a:srgbClr val="FFFFFF"/>
                </a:solidFill>
              </a:rPr>
              <a:t>NutriGuide Agentic AI  |  IBM Granite</a:t>
            </a:r>
          </a:p>
        </p:txBody>
      </p:sp>
      <p:sp>
        <p:nvSpPr>
          <p:cNvPr id="100080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Screenshot — Ask NutriGuide Q&amp;A Agent</a:t>
            </a:r>
          </a:p>
        </p:txBody>
      </p:sp>
      <p:sp>
        <p:nvSpPr>
          <p:cNvPr id="100081" name="QAHeader"/>
          <p:cNvSpPr txBox="1"/>
          <p:nvPr/>
        </p:nvSpPr>
        <p:spPr>
          <a:xfrm>
            <a:off x="540000" y="900000"/>
            <a:ext cx="10800000" cy="28800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r>
              <a:rPr lang="en-US" sz="1300" b="0">
                <a:solidFill>
                  <a:srgbClr val="9EF0AC"/>
                </a:solidFill>
              </a:rPr>
              <a:t>Tab: Ask NutriGuide  |  IBM Granite answers nutrition questions in context of user profile</a:t>
            </a:r>
          </a:p>
        </p:txBody>
      </p:sp>
      <p:sp>
        <p:nvSpPr>
          <p:cNvPr id="100082" name="Chips"/>
          <p:cNvSpPr txBox="1"/>
          <p:nvPr/>
        </p:nvSpPr>
        <p:spPr>
          <a:xfrm>
            <a:off x="540000" y="1260000"/>
            <a:ext cx="10800000" cy="360000"/>
          </a:xfrm>
          <a:prstGeom prst="rect">
            <a:avLst/>
          </a:prstGeom>
          <a:solidFill>
            <a:srgbClr val="1A1F6E"/>
          </a:solidFill>
        </p:spPr>
        <p:txBody>
          <a:bodyPr/>
          <a:lstStyle/>
          <a:p>
            <a:r>
              <a:rPr lang="en-US" sz="1200" b="0">
                <a:solidFill>
                  <a:srgbClr val="A8C8FF"/>
                </a:solidFill>
              </a:rPr>
              <a:t>Quick Questions:  [ Protein sources ]  [ Daily water intake ]  [ Vitamins &amp; supplements ]  [ Weight management ]  [ Foods to avoid ]  [ Healthy snacks ]</a:t>
            </a:r>
          </a:p>
        </p:txBody>
      </p:sp>
      <p:sp>
        <p:nvSpPr>
          <p:cNvPr id="100083" name="InputArea"/>
          <p:cNvSpPr txBox="1"/>
          <p:nvPr/>
        </p:nvSpPr>
        <p:spPr>
          <a:xfrm>
            <a:off x="540000" y="1692000"/>
            <a:ext cx="10800000" cy="72000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r>
              <a:rPr lang="en-US" sz="1400" b="0">
                <a:solidFill>
                  <a:srgbClr val="FFFFFF"/>
                </a:solidFill>
              </a:rPr>
              <a:t>Input Box:</a:t>
            </a:r>
          </a:p>
          <a:p>
            <a:r>
              <a:rPr lang="en-US" sz="1400" b="0">
                <a:solidFill>
                  <a:srgbClr val="FFFFFF"/>
                </a:solidFill>
              </a:rPr>
              <a:t>"What are the best protein sources for a vegetarian with diabetes?"</a:t>
            </a:r>
          </a:p>
          <a:p>
            <a:endParaRPr lang="en-US" sz="1400" b="0">
              <a:solidFill>
                <a:srgbClr val="FFFFFF"/>
              </a:solidFill>
            </a:endParaRPr>
          </a:p>
          <a:p>
            <a:r>
              <a:rPr lang="en-US" sz="1400" b="0">
                <a:solidFill>
                  <a:srgbClr val="FFFFFF"/>
                </a:solidFill>
              </a:rPr>
              <a:t>                              [ Ask IBM Granite ]        Ctrl+Enter to submit</a:t>
            </a:r>
          </a:p>
        </p:txBody>
      </p:sp>
      <p:sp>
        <p:nvSpPr>
          <p:cNvPr id="100084" name="Q1"/>
          <p:cNvSpPr txBox="1"/>
          <p:nvPr/>
        </p:nvSpPr>
        <p:spPr>
          <a:xfrm>
            <a:off x="540000" y="2520000"/>
            <a:ext cx="10800000" cy="324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r>
              <a:rPr lang="en-US" sz="1400" b="1">
                <a:solidFill>
                  <a:srgbClr val="FFFFFF"/>
                </a:solidFill>
              </a:rPr>
              <a:t>Q: What are the best protein sources for a vegetarian?</a:t>
            </a:r>
          </a:p>
        </p:txBody>
      </p:sp>
      <p:sp>
        <p:nvSpPr>
          <p:cNvPr id="100085" name="A1"/>
          <p:cNvSpPr txBox="1"/>
          <p:nvPr/>
        </p:nvSpPr>
        <p:spPr>
          <a:xfrm>
            <a:off x="540000" y="2880000"/>
            <a:ext cx="10800000" cy="1800000"/>
          </a:xfrm>
          <a:prstGeom prst="rect">
            <a:avLst/>
          </a:prstGeom>
          <a:solidFill>
            <a:srgbClr val="1A2040"/>
          </a:solidFill>
        </p:spPr>
        <p:txBody>
          <a:bodyPr/>
          <a:lstStyle/>
          <a:p>
            <a:r>
              <a:rPr lang="en-US" sz="1300" b="0">
                <a:solidFill>
                  <a:srgbClr val="E8EAF6"/>
                </a:solidFill>
              </a:rPr>
              <a:t>Protein Needs</a:t>
            </a:r>
          </a:p>
          <a:p>
            <a:endParaRPr lang="en-US" sz="1300" b="0">
              <a:solidFill>
                <a:srgbClr val="E8EAF6"/>
              </a:solidFill>
            </a:endParaRPr>
          </a:p>
          <a:p>
            <a:r>
              <a:rPr lang="en-US" sz="1300" b="0">
                <a:solidFill>
                  <a:srgbClr val="E8EAF6"/>
                </a:solidFill>
              </a:rPr>
              <a:t>For a 35-year-old vegetarian, the recommendation is 0.8-1.2g protein per kg body weight.</a:t>
            </a:r>
          </a:p>
          <a:p>
            <a:endParaRPr lang="en-US" sz="1300" b="0">
              <a:solidFill>
                <a:srgbClr val="E8EAF6"/>
              </a:solidFill>
            </a:endParaRPr>
          </a:p>
          <a:p>
            <a:r>
              <a:rPr lang="en-US" sz="1300" b="0">
                <a:solidFill>
                  <a:srgbClr val="E8EAF6"/>
                </a:solidFill>
              </a:rPr>
              <a:t>Top sources:  Lentils (18g/cup)  |  Greek yogurt (17g/cup)  |  Tofu (20g/100g)  |  Quinoa (8g/cup)  |  Chickpeas (15g/cup)</a:t>
            </a:r>
          </a:p>
          <a:p>
            <a:endParaRPr lang="en-US" sz="1300" b="0">
              <a:solidFill>
                <a:srgbClr val="E8EAF6"/>
              </a:solidFill>
            </a:endParaRPr>
          </a:p>
          <a:p>
            <a:r>
              <a:rPr lang="en-US" sz="1300" b="0">
                <a:solidFill>
                  <a:srgbClr val="E8EAF6"/>
                </a:solidFill>
              </a:rPr>
              <a:t>Spread protein intake across all meals for optimal absorption.</a:t>
            </a:r>
          </a:p>
          <a:p>
            <a:endParaRPr lang="en-US" sz="1300" b="0">
              <a:solidFill>
                <a:srgbClr val="E8EAF6"/>
              </a:solidFill>
            </a:endParaRPr>
          </a:p>
          <a:p>
            <a:r>
              <a:rPr lang="en-US" sz="1300" b="0">
                <a:solidFill>
                  <a:srgbClr val="E8EAF6"/>
                </a:solidFill>
              </a:rPr>
              <a:t>IBM Granite  |  10:32 AM</a:t>
            </a:r>
          </a:p>
          <a:p>
            <a:r>
              <a:rPr lang="en-US" sz="1300" b="0">
                <a:solidFill>
                  <a:srgbClr val="E8EAF6"/>
                </a:solidFill>
              </a:rPr>
              <a:t>--- This response is for informational purposes only. Consult a healthcare professional for personal guidance. ---</a:t>
            </a:r>
          </a:p>
        </p:txBody>
      </p:sp>
      <p:sp>
        <p:nvSpPr>
          <p:cNvPr id="100086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87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088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A2342"/>
                </a:solidFill>
                <a:latin typeface="Calibri"/>
                <a:ea typeface="Calibri"/>
              </a:rPr>
              <a:t>Ethical AI — Guardrails &amp; HAM Principles</a:t>
            </a:r>
          </a:p>
        </p:txBody>
      </p:sp>
      <p:sp>
        <p:nvSpPr>
          <p:cNvPr id="100089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090" name="InputGuard"/>
          <p:cNvSpPr txBox="1"/>
          <p:nvPr/>
        </p:nvSpPr>
        <p:spPr>
          <a:xfrm>
            <a:off x="540000" y="1008000"/>
            <a:ext cx="3420000" cy="3960000"/>
          </a:xfrm>
          <a:prstGeom prst="rect">
            <a:avLst/>
          </a:prstGeom>
          <a:solidFill>
            <a:srgbClr val="FFF1F1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INPUT GUARDRAILS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Form Validation</a:t>
            </a:r>
          </a:p>
          <a:p>
            <a:r>
              <a:rPr lang="en-US" sz="1300" b="0">
                <a:solidFill>
                  <a:srgbClr val="1A1F2E"/>
                </a:solidFill>
              </a:rPr>
              <a:t>  - Name: letters only, 2-60 chars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Age: numeric, 5-110 range</a:t>
            </a:r>
          </a:p>
          <a:p>
            <a:r>
              <a:rPr lang="en-US" sz="1300" b="0">
                <a:solidFill>
                  <a:srgbClr val="1A1F2E"/>
                </a:solidFill>
              </a:rPr>
              <a:t>  - Diet: validated enum values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City/Country: required fields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Harmful Content Detection</a:t>
            </a:r>
          </a:p>
          <a:p>
            <a:r>
              <a:rPr lang="en-US" sz="1300" b="0">
                <a:solidFill>
                  <a:srgbClr val="1A1F2E"/>
                </a:solidFill>
              </a:rPr>
              <a:t>  - 25+ blocked keywords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Starvation, extreme diets blocked</a:t>
            </a:r>
          </a:p>
          <a:p>
            <a:r>
              <a:rPr lang="en-US" sz="1300" b="0">
                <a:solidFill>
                  <a:srgbClr val="1A1F2E"/>
                </a:solidFill>
              </a:rPr>
              <a:t>  - Crisis messaging for harm triggers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Query Safety</a:t>
            </a:r>
          </a:p>
          <a:p>
            <a:r>
              <a:rPr lang="en-US" sz="1300" b="0">
                <a:solidFill>
                  <a:srgbClr val="1A1F2E"/>
                </a:solidFill>
              </a:rPr>
              <a:t>  - 500 character limit</a:t>
            </a:r>
          </a:p>
          <a:p>
            <a:r>
              <a:rPr lang="en-US" sz="1300" b="0">
                <a:solidFill>
                  <a:srgbClr val="1A1F2E"/>
                </a:solidFill>
              </a:rPr>
              <a:t>  - Prompt injection prevention</a:t>
            </a:r>
          </a:p>
        </p:txBody>
      </p:sp>
      <p:sp>
        <p:nvSpPr>
          <p:cNvPr id="100091" name="LLMGuard"/>
          <p:cNvSpPr txBox="1"/>
          <p:nvPr/>
        </p:nvSpPr>
        <p:spPr>
          <a:xfrm>
            <a:off x="4320000" y="1008000"/>
            <a:ext cx="3420000" cy="3960000"/>
          </a:xfrm>
          <a:prstGeom prst="rect">
            <a:avLst/>
          </a:prstGeom>
          <a:solidFill>
            <a:srgbClr val="FFF8E1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LLM GUARDRAILS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System Prompt Engineering</a:t>
            </a:r>
          </a:p>
          <a:p>
            <a:r>
              <a:rPr lang="en-US" sz="1300" b="0">
                <a:solidFill>
                  <a:srgbClr val="1A1F2E"/>
                </a:solidFill>
              </a:rPr>
              <a:t>  - HAM principles embedded</a:t>
            </a:r>
          </a:p>
          <a:p>
            <a:r>
              <a:rPr lang="en-US" sz="1300" b="0">
                <a:solidFill>
                  <a:srgbClr val="1A1F2E"/>
                </a:solidFill>
              </a:rPr>
              <a:t>  - No diagnoses or prescriptions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No extreme calorie restriction</a:t>
            </a:r>
          </a:p>
          <a:p>
            <a:r>
              <a:rPr lang="en-US" sz="1300" b="0">
                <a:solidFill>
                  <a:srgbClr val="1A1F2E"/>
                </a:solidFill>
              </a:rPr>
              <a:t>  - No dangerous supplements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WHO / FDA guidelines cited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Output Sanitization</a:t>
            </a:r>
          </a:p>
          <a:p>
            <a:r>
              <a:rPr lang="en-US" sz="1300" b="0">
                <a:solidFill>
                  <a:srgbClr val="1A1F2E"/>
                </a:solidFill>
              </a:rPr>
              <a:t>  - Post-generation content scan</a:t>
            </a:r>
          </a:p>
          <a:p>
            <a:r>
              <a:rPr lang="en-US" sz="1300" b="0">
                <a:solidFill>
                  <a:srgbClr val="1A1F2E"/>
                </a:solidFill>
              </a:rPr>
              <a:t>  - Fallback safe message if harmful</a:t>
            </a:r>
          </a:p>
          <a:p>
            <a:r>
              <a:rPr lang="en-US" sz="1300" b="0">
                <a:solidFill>
                  <a:srgbClr val="1A1F2E"/>
                </a:solidFill>
              </a:rPr>
              <a:t>  - Condition-specific disclaimers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High-Risk Conditions Flagged</a:t>
            </a:r>
          </a:p>
          <a:p>
            <a:r>
              <a:rPr lang="en-US" sz="1300" b="0">
                <a:solidFill>
                  <a:srgbClr val="1A1F2E"/>
                </a:solidFill>
              </a:rPr>
              <a:t>  - 15+ conditions detected</a:t>
            </a:r>
          </a:p>
          <a:p>
            <a:r>
              <a:rPr lang="en-US" sz="1300" b="0">
                <a:solidFill>
                  <a:srgbClr val="1A1F2E"/>
                </a:solidFill>
              </a:rPr>
              <a:t>  - Specialist consultation urged</a:t>
            </a:r>
          </a:p>
        </p:txBody>
      </p:sp>
      <p:sp>
        <p:nvSpPr>
          <p:cNvPr id="100092" name="HAMBox"/>
          <p:cNvSpPr txBox="1"/>
          <p:nvPr/>
        </p:nvSpPr>
        <p:spPr>
          <a:xfrm>
            <a:off x="8100000" y="1008000"/>
            <a:ext cx="3420000" cy="3960000"/>
          </a:xfrm>
          <a:prstGeom prst="rect">
            <a:avLst/>
          </a:prstGeom>
          <a:solidFill>
            <a:srgbClr val="EDFAF1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HAM PRINCIPLES APPLIED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HELPFUL</a:t>
            </a:r>
          </a:p>
          <a:p>
            <a:r>
              <a:rPr lang="en-US" sz="1300" b="0">
                <a:solidFill>
                  <a:srgbClr val="1A1F2E"/>
                </a:solidFill>
              </a:rPr>
              <a:t>  - Actionable meal plans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Grocery lists included</a:t>
            </a:r>
          </a:p>
          <a:p>
            <a:r>
              <a:rPr lang="en-US" sz="1300" b="0">
                <a:solidFill>
                  <a:srgbClr val="1A1F2E"/>
                </a:solidFill>
              </a:rPr>
              <a:t>  - Local food suggestions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Practical lifestyle tips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ACCURATE</a:t>
            </a:r>
          </a:p>
          <a:p>
            <a:r>
              <a:rPr lang="en-US" sz="1300" b="0">
                <a:solidFill>
                  <a:srgbClr val="1A1F2E"/>
                </a:solidFill>
              </a:rPr>
              <a:t>  - WHO guidelines embedded</a:t>
            </a:r>
          </a:p>
          <a:p>
            <a:r>
              <a:rPr lang="en-US" sz="1300" b="0">
                <a:solidFill>
                  <a:srgbClr val="1A1F2E"/>
                </a:solidFill>
              </a:rPr>
              <a:t>  - FDA nutrition standards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Evidence-based macros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Medical history honoured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MEANINGFUL</a:t>
            </a:r>
          </a:p>
          <a:p>
            <a:r>
              <a:rPr lang="en-US" sz="1300" b="0">
                <a:solidFill>
                  <a:srgbClr val="1A1F2E"/>
                </a:solidFill>
              </a:rPr>
              <a:t>  - Structured Markdown output</a:t>
            </a:r>
          </a:p>
          <a:p>
            <a:r>
              <a:rPr lang="en-US" sz="1300" b="0">
                <a:solidFill>
                  <a:srgbClr val="1A1F2E"/>
                </a:solidFill>
              </a:rPr>
              <a:t>  - Tables for quick scanning</a:t>
            </a:r>
          </a:p>
          <a:p>
            <a:r>
              <a:rPr lang="en-US" sz="1300" b="0">
                <a:solidFill>
                  <a:srgbClr val="1A1F2E"/>
                </a:solidFill>
              </a:rPr>
              <a:t>  - Clear section headers</a:t>
            </a:r>
          </a:p>
          <a:p>
            <a:r>
              <a:rPr lang="en-US" sz="1300" b="0">
                <a:solidFill>
                  <a:srgbClr val="1A1F2E"/>
                </a:solidFill>
              </a:rPr>
              <a:t>  - Downloadable .md format</a:t>
            </a:r>
          </a:p>
        </p:txBody>
      </p:sp>
      <p:sp>
        <p:nvSpPr>
          <p:cNvPr id="100093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94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095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A2342"/>
                </a:solidFill>
                <a:latin typeface="Calibri"/>
                <a:ea typeface="Calibri"/>
              </a:rPr>
              <a:t>IBM Granite Model — Integration Details</a:t>
            </a:r>
          </a:p>
        </p:txBody>
      </p:sp>
      <p:sp>
        <p:nvSpPr>
          <p:cNvPr id="100096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097" name="ModelBox"/>
          <p:cNvSpPr txBox="1"/>
          <p:nvPr/>
        </p:nvSpPr>
        <p:spPr>
          <a:xfrm>
            <a:off x="540000" y="1008000"/>
            <a:ext cx="5220000" cy="360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Model Configuration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Model ID:        ibm/granite-3-3-8b-instruct</a:t>
            </a:r>
          </a:p>
          <a:p>
            <a:r>
              <a:rPr lang="en-US" sz="1400" b="0">
                <a:solidFill>
                  <a:srgbClr val="1A1F2E"/>
                </a:solidFill>
              </a:rPr>
              <a:t>  Platform:        IBM Watsonx.ai</a:t>
            </a:r>
          </a:p>
          <a:p>
            <a:r>
              <a:rPr lang="en-US" sz="1400" b="0">
                <a:solidFill>
                  <a:srgbClr val="1A1F2E"/>
                </a:solidFill>
              </a:rPr>
              <a:t>  SDK:             ibm-watsonx-ai 1.1.2</a:t>
            </a:r>
          </a:p>
          <a:p>
            <a:r>
              <a:rPr lang="en-US" sz="1400" b="0">
                <a:solidFill>
                  <a:srgbClr val="1A1F2E"/>
                </a:solidFill>
              </a:rPr>
              <a:t>  Endpoint:        us-south.ml.cloud.ibm.com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Generation Parameters:</a:t>
            </a:r>
          </a:p>
          <a:p>
            <a:r>
              <a:rPr lang="en-US" sz="1400" b="0">
                <a:solidFill>
                  <a:srgbClr val="1A1F2E"/>
                </a:solidFill>
              </a:rPr>
              <a:t>  Max New Tokens:       2048</a:t>
            </a:r>
          </a:p>
          <a:p>
            <a:r>
              <a:rPr lang="en-US" sz="1400" b="0">
                <a:solidFill>
                  <a:srgbClr val="1A1F2E"/>
                </a:solidFill>
              </a:rPr>
              <a:t>  Min New Tokens:        100</a:t>
            </a:r>
          </a:p>
          <a:p>
            <a:r>
              <a:rPr lang="en-US" sz="1400" b="0">
                <a:solidFill>
                  <a:srgbClr val="1A1F2E"/>
                </a:solidFill>
              </a:rPr>
              <a:t>  Temperature:           0.7</a:t>
            </a:r>
          </a:p>
          <a:p>
            <a:r>
              <a:rPr lang="en-US" sz="1400" b="0">
                <a:solidFill>
                  <a:srgbClr val="1A1F2E"/>
                </a:solidFill>
              </a:rPr>
              <a:t>  Top-P:                 0.9</a:t>
            </a:r>
          </a:p>
          <a:p>
            <a:r>
              <a:rPr lang="en-US" sz="1400" b="0">
                <a:solidFill>
                  <a:srgbClr val="1A1F2E"/>
                </a:solidFill>
              </a:rPr>
              <a:t>  Top-K:                  50</a:t>
            </a:r>
          </a:p>
          <a:p>
            <a:r>
              <a:rPr lang="en-US" sz="1400" b="0">
                <a:solidFill>
                  <a:srgbClr val="1A1F2E"/>
                </a:solidFill>
              </a:rPr>
              <a:t>  Repetition Penalty:    1.1</a:t>
            </a:r>
          </a:p>
          <a:p>
            <a:r>
              <a:rPr lang="en-US" sz="1400" b="0">
                <a:solidFill>
                  <a:srgbClr val="1A1F2E"/>
                </a:solidFill>
              </a:rPr>
              <a:t>  Stop Sequences:  &lt;|endoftext|&gt;</a:t>
            </a:r>
          </a:p>
        </p:txBody>
      </p:sp>
      <p:sp>
        <p:nvSpPr>
          <p:cNvPr id="100098" name="PromptBox"/>
          <p:cNvSpPr txBox="1"/>
          <p:nvPr/>
        </p:nvSpPr>
        <p:spPr>
          <a:xfrm>
            <a:off x="5940000" y="1008000"/>
            <a:ext cx="5400000" cy="3600000"/>
          </a:xfrm>
          <a:prstGeom prst="rect">
            <a:avLst/>
          </a:prstGeom>
          <a:solidFill>
            <a:srgbClr val="1A1F2E"/>
          </a:solidFill>
        </p:spPr>
        <p:txBody>
          <a:bodyPr/>
          <a:lstStyle/>
          <a:p>
            <a:r>
              <a:rPr lang="en-US" sz="1300" b="0">
                <a:solidFill>
                  <a:srgbClr val="E8EAF6"/>
                </a:solidFill>
              </a:rPr>
              <a:t>Prompt Engineering (Instruct Format)</a:t>
            </a:r>
          </a:p>
          <a:p>
            <a:endParaRPr lang="en-US" sz="1300" b="0">
              <a:solidFill>
                <a:srgbClr val="E8EAF6"/>
              </a:solidFill>
            </a:endParaRPr>
          </a:p>
          <a:p>
            <a:r>
              <a:rPr lang="en-US" sz="1300" b="0">
                <a:solidFill>
                  <a:srgbClr val="E8EAF6"/>
                </a:solidFill>
              </a:rPr>
              <a:t>&lt;|system|&gt;</a:t>
            </a:r>
          </a:p>
          <a:p>
            <a:r>
              <a:rPr lang="en-US" sz="1300" b="0">
                <a:solidFill>
                  <a:srgbClr val="E8EAF6"/>
                </a:solidFill>
              </a:rPr>
              <a:t>You are NutriGuide, a helpful and respectful</a:t>
            </a:r>
          </a:p>
          <a:p>
            <a:r>
              <a:rPr lang="en-US" sz="1300" b="0">
                <a:solidFill>
                  <a:srgbClr val="E8EAF6"/>
                </a:solidFill>
              </a:rPr>
              <a:t>AI nutrition assistant powered by IBM Granite.</a:t>
            </a:r>
          </a:p>
          <a:p>
            <a:r>
              <a:rPr lang="en-US" sz="1300" b="0">
                <a:solidFill>
                  <a:srgbClr val="E8EAF6"/>
                </a:solidFill>
              </a:rPr>
              <a:t>Follow HAM principles: Helpful, Accurate,</a:t>
            </a:r>
          </a:p>
          <a:p>
            <a:r>
              <a:rPr lang="en-US" sz="1300" b="0">
                <a:solidFill>
                  <a:srgbClr val="E8EAF6"/>
                </a:solidFill>
              </a:rPr>
              <a:t>Meaningful. Never recommend starvation or</a:t>
            </a:r>
          </a:p>
          <a:p>
            <a:r>
              <a:rPr lang="en-US" sz="1300" b="0">
                <a:solidFill>
                  <a:srgbClr val="E8EAF6"/>
                </a:solidFill>
              </a:rPr>
              <a:t>extreme restriction. Never diagnose or prescribe.</a:t>
            </a:r>
          </a:p>
          <a:p>
            <a:r>
              <a:rPr lang="en-US" sz="1300" b="0">
                <a:solidFill>
                  <a:srgbClr val="E8EAF6"/>
                </a:solidFill>
              </a:rPr>
              <a:t>Always recommend consulting a healthcare pro.</a:t>
            </a:r>
          </a:p>
          <a:p>
            <a:r>
              <a:rPr lang="en-US" sz="1300" b="0">
                <a:solidFill>
                  <a:srgbClr val="E8EAF6"/>
                </a:solidFill>
              </a:rPr>
              <a:t>[User Profile injected here]</a:t>
            </a:r>
          </a:p>
          <a:p>
            <a:endParaRPr lang="en-US" sz="1300" b="0">
              <a:solidFill>
                <a:srgbClr val="E8EAF6"/>
              </a:solidFill>
            </a:endParaRPr>
          </a:p>
          <a:p>
            <a:r>
              <a:rPr lang="en-US" sz="1300" b="0">
                <a:solidFill>
                  <a:srgbClr val="E8EAF6"/>
                </a:solidFill>
              </a:rPr>
              <a:t>&lt;|user|&gt;</a:t>
            </a:r>
          </a:p>
          <a:p>
            <a:r>
              <a:rPr lang="en-US" sz="1300" b="0">
                <a:solidFill>
                  <a:srgbClr val="E8EAF6"/>
                </a:solidFill>
              </a:rPr>
              <a:t>Please generate my personalized 7-day</a:t>
            </a:r>
          </a:p>
          <a:p>
            <a:r>
              <a:rPr lang="en-US" sz="1300" b="0">
                <a:solidFill>
                  <a:srgbClr val="E8EAF6"/>
                </a:solidFill>
              </a:rPr>
              <a:t>nutrition plan.</a:t>
            </a:r>
          </a:p>
          <a:p>
            <a:endParaRPr lang="en-US" sz="1300" b="0">
              <a:solidFill>
                <a:srgbClr val="E8EAF6"/>
              </a:solidFill>
            </a:endParaRPr>
          </a:p>
          <a:p>
            <a:r>
              <a:rPr lang="en-US" sz="1300" b="0">
                <a:solidFill>
                  <a:srgbClr val="E8EAF6"/>
                </a:solidFill>
              </a:rPr>
              <a:t>&lt;|assistant|&gt;</a:t>
            </a:r>
          </a:p>
          <a:p>
            <a:r>
              <a:rPr lang="en-US" sz="1300" b="0">
                <a:solidFill>
                  <a:srgbClr val="E8EAF6"/>
                </a:solidFill>
              </a:rPr>
              <a:t>[IBM Granite generates plan here]</a:t>
            </a:r>
          </a:p>
        </p:txBody>
      </p:sp>
      <p:sp>
        <p:nvSpPr>
          <p:cNvPr id="100099" name="FallbackNote"/>
          <p:cNvSpPr txBox="1"/>
          <p:nvPr/>
        </p:nvSpPr>
        <p:spPr>
          <a:xfrm>
            <a:off x="540000" y="4680000"/>
            <a:ext cx="10800000" cy="36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300" b="0">
                <a:solidFill>
                  <a:srgbClr val="0043A8"/>
                </a:solidFill>
              </a:rPr>
              <a:t>Demo Mode:  If WATSONX_API_KEY is not configured, the app falls back to structured rule-based nutrition plans — fully functional without API key.</a:t>
            </a:r>
          </a:p>
        </p:txBody>
      </p:sp>
      <p:sp>
        <p:nvSpPr>
          <p:cNvPr id="100100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01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102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A2342"/>
                </a:solidFill>
                <a:latin typeface="Calibri"/>
                <a:ea typeface="Calibri"/>
              </a:rPr>
              <a:t>REST API Endpoints</a:t>
            </a:r>
          </a:p>
        </p:txBody>
      </p:sp>
      <p:sp>
        <p:nvSpPr>
          <p:cNvPr id="100103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104" name="EP1"/>
          <p:cNvSpPr txBox="1"/>
          <p:nvPr/>
        </p:nvSpPr>
        <p:spPr>
          <a:xfrm>
            <a:off x="540000" y="1008000"/>
            <a:ext cx="10800000" cy="648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500" b="0">
                <a:solidFill>
                  <a:srgbClr val="1A1F2E"/>
                </a:solidFill>
              </a:rPr>
              <a:t>GET  /</a:t>
            </a:r>
          </a:p>
          <a:p>
            <a:r>
              <a:rPr lang="en-US" sz="1500" b="0">
                <a:solidFill>
                  <a:srgbClr val="1A1F2E"/>
                </a:solidFill>
              </a:rPr>
              <a:t>Serves the web application (index.html)</a:t>
            </a:r>
          </a:p>
          <a:p>
            <a:r>
              <a:rPr lang="en-US" sz="1500" b="0">
                <a:solidFill>
                  <a:srgbClr val="1A1F2E"/>
                </a:solidFill>
              </a:rPr>
              <a:t>Returns: HTML SPA</a:t>
            </a:r>
          </a:p>
        </p:txBody>
      </p:sp>
      <p:sp>
        <p:nvSpPr>
          <p:cNvPr id="100105" name="EP2"/>
          <p:cNvSpPr txBox="1"/>
          <p:nvPr/>
        </p:nvSpPr>
        <p:spPr>
          <a:xfrm>
            <a:off x="540000" y="1764000"/>
            <a:ext cx="10800000" cy="792000"/>
          </a:xfrm>
          <a:prstGeom prst="rect">
            <a:avLst/>
          </a:prstGeom>
          <a:solidFill>
            <a:srgbClr val="EDFAF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POST  /api/generate-plan</a:t>
            </a:r>
          </a:p>
          <a:p>
            <a:r>
              <a:rPr lang="en-US" sz="1400" b="0">
                <a:solidFill>
                  <a:srgbClr val="1A1F2E"/>
                </a:solidFill>
              </a:rPr>
              <a:t>Generates personalized 7-day nutrition plan</a:t>
            </a:r>
          </a:p>
          <a:p>
            <a:r>
              <a:rPr lang="en-US" sz="1400" b="0">
                <a:solidFill>
                  <a:srgbClr val="1A1F2E"/>
                </a:solidFill>
              </a:rPr>
              <a:t>Body: { name, age, diet_preference, medical_history, location_city, location_country }</a:t>
            </a:r>
          </a:p>
          <a:p>
            <a:r>
              <a:rPr lang="en-US" sz="1400" b="0">
                <a:solidFill>
                  <a:srgbClr val="1A1F2E"/>
                </a:solidFill>
              </a:rPr>
              <a:t>Returns: { plan (markdown), flagged_conditions, source, generated_at, saved_file }</a:t>
            </a:r>
          </a:p>
        </p:txBody>
      </p:sp>
      <p:sp>
        <p:nvSpPr>
          <p:cNvPr id="100106" name="EP3"/>
          <p:cNvSpPr txBox="1"/>
          <p:nvPr/>
        </p:nvSpPr>
        <p:spPr>
          <a:xfrm>
            <a:off x="540000" y="2664000"/>
            <a:ext cx="10800000" cy="792000"/>
          </a:xfrm>
          <a:prstGeom prst="rect">
            <a:avLst/>
          </a:prstGeom>
          <a:solidFill>
            <a:srgbClr val="FFF8E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POST  /api/ask</a:t>
            </a:r>
          </a:p>
          <a:p>
            <a:r>
              <a:rPr lang="en-US" sz="1400" b="0">
                <a:solidFill>
                  <a:srgbClr val="1A1F2E"/>
                </a:solidFill>
              </a:rPr>
              <a:t>Answers a nutrition question in context of user profile</a:t>
            </a:r>
          </a:p>
          <a:p>
            <a:r>
              <a:rPr lang="en-US" sz="1400" b="0">
                <a:solidFill>
                  <a:srgbClr val="1A1F2E"/>
                </a:solidFill>
              </a:rPr>
              <a:t>Body: { query, name, age, diet_preference, medical_history, location_city, location_country }</a:t>
            </a:r>
          </a:p>
          <a:p>
            <a:r>
              <a:rPr lang="en-US" sz="1400" b="0">
                <a:solidFill>
                  <a:srgbClr val="1A1F2E"/>
                </a:solidFill>
              </a:rPr>
              <a:t>Returns: { answer (markdown with disclaimer) }</a:t>
            </a:r>
          </a:p>
        </p:txBody>
      </p:sp>
      <p:sp>
        <p:nvSpPr>
          <p:cNvPr id="100107" name="EP4"/>
          <p:cNvSpPr txBox="1"/>
          <p:nvPr/>
        </p:nvSpPr>
        <p:spPr>
          <a:xfrm>
            <a:off x="540000" y="3564000"/>
            <a:ext cx="10800000" cy="720000"/>
          </a:xfrm>
          <a:prstGeom prst="rect">
            <a:avLst/>
          </a:prstGeom>
          <a:solidFill>
            <a:srgbClr val="FFF1F1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GET  /api/download-plan/&lt;filename&gt;</a:t>
            </a:r>
          </a:p>
          <a:p>
            <a:r>
              <a:rPr lang="en-US" sz="1400" b="0">
                <a:solidFill>
                  <a:srgbClr val="1A1F2E"/>
                </a:solidFill>
              </a:rPr>
              <a:t>Downloads a saved nutrition plan as .md file</a:t>
            </a:r>
          </a:p>
          <a:p>
            <a:r>
              <a:rPr lang="en-US" sz="1400" b="0">
                <a:solidFill>
                  <a:srgbClr val="1A1F2E"/>
                </a:solidFill>
              </a:rPr>
              <a:t>Security: filename sanitized to prevent path traversal</a:t>
            </a:r>
          </a:p>
          <a:p>
            <a:r>
              <a:rPr lang="en-US" sz="1400" b="0">
                <a:solidFill>
                  <a:srgbClr val="1A1F2E"/>
                </a:solidFill>
              </a:rPr>
              <a:t>Returns: File attachment (.md)</a:t>
            </a:r>
          </a:p>
        </p:txBody>
      </p:sp>
      <p:sp>
        <p:nvSpPr>
          <p:cNvPr id="100108" name="EP5"/>
          <p:cNvSpPr txBox="1"/>
          <p:nvPr/>
        </p:nvSpPr>
        <p:spPr>
          <a:xfrm>
            <a:off x="540000" y="4392000"/>
            <a:ext cx="10800000" cy="648000"/>
          </a:xfrm>
          <a:prstGeom prst="rect">
            <a:avLst/>
          </a:prstGeom>
          <a:solidFill>
            <a:srgbClr val="F3EFFF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GET  /api/health</a:t>
            </a:r>
          </a:p>
          <a:p>
            <a:r>
              <a:rPr lang="en-US" sz="1400" b="0">
                <a:solidFill>
                  <a:srgbClr val="1A1F2E"/>
                </a:solidFill>
              </a:rPr>
              <a:t>Health check — returns LLM connection status, timestamp, model name</a:t>
            </a:r>
          </a:p>
          <a:p>
            <a:r>
              <a:rPr lang="en-US" sz="1400" b="0">
                <a:solidFill>
                  <a:srgbClr val="1A1F2E"/>
                </a:solidFill>
              </a:rPr>
              <a:t>Returns: { status, app, model, llm_connected, timestamp }</a:t>
            </a:r>
          </a:p>
        </p:txBody>
      </p:sp>
      <p:sp>
        <p:nvSpPr>
          <p:cNvPr id="100109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10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111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A2342"/>
                </a:solidFill>
                <a:latin typeface="Calibri"/>
                <a:ea typeface="Calibri"/>
              </a:rPr>
              <a:t>Project Structure &amp; File Overview</a:t>
            </a:r>
          </a:p>
        </p:txBody>
      </p:sp>
      <p:sp>
        <p:nvSpPr>
          <p:cNvPr id="100112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113" name="Tree"/>
          <p:cNvSpPr txBox="1"/>
          <p:nvPr/>
        </p:nvSpPr>
        <p:spPr>
          <a:xfrm>
            <a:off x="540000" y="1008000"/>
            <a:ext cx="10800000" cy="4680000"/>
          </a:xfrm>
          <a:prstGeom prst="rect">
            <a:avLst/>
          </a:prstGeom>
          <a:solidFill>
            <a:srgbClr val="F7F8FA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Nutrition-Agentic-AI/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app.py              Flask backend — IBM Granite agent logic</a:t>
            </a:r>
          </a:p>
          <a:p>
            <a:r>
              <a:rPr lang="en-US" sz="1400" b="0">
                <a:solidFill>
                  <a:srgbClr val="1A1F2E"/>
                </a:solidFill>
              </a:rPr>
              <a:t>  guardrails.py       Ethics &amp; safety guardrails (25+ blocked keywords, 15+ risk conditions)</a:t>
            </a:r>
          </a:p>
          <a:p>
            <a:r>
              <a:rPr lang="en-US" sz="1400" b="0">
                <a:solidFill>
                  <a:srgbClr val="1A1F2E"/>
                </a:solidFill>
              </a:rPr>
              <a:t>  disclaimer.py       Medical disclaimer generator (condition-specific, WHO/FDA aligned)</a:t>
            </a:r>
          </a:p>
          <a:p>
            <a:r>
              <a:rPr lang="en-US" sz="1400" b="0">
                <a:solidFill>
                  <a:srgbClr val="1A1F2E"/>
                </a:solidFill>
              </a:rPr>
              <a:t>  requirements.txt    Python dependencies (Flask, ibm-watsonx-ai, dotenv, gunicorn)</a:t>
            </a:r>
          </a:p>
          <a:p>
            <a:r>
              <a:rPr lang="en-US" sz="1400" b="0">
                <a:solidFill>
                  <a:srgbClr val="1A1F2E"/>
                </a:solidFill>
              </a:rPr>
              <a:t>  .env.example        Environment variable template (API key, Project ID, URL)</a:t>
            </a:r>
          </a:p>
          <a:p>
            <a:r>
              <a:rPr lang="en-US" sz="1400" b="0">
                <a:solidFill>
                  <a:srgbClr val="1A1F2E"/>
                </a:solidFill>
              </a:rPr>
              <a:t>  run.bat             One-click Windows launcher (venv + install + launch)</a:t>
            </a:r>
          </a:p>
          <a:p>
            <a:r>
              <a:rPr lang="en-US" sz="1400" b="0">
                <a:solidFill>
                  <a:srgbClr val="1A1F2E"/>
                </a:solidFill>
              </a:rPr>
              <a:t>  README.md           Full documentation with architecture diagrams</a:t>
            </a:r>
          </a:p>
          <a:p>
            <a:r>
              <a:rPr lang="en-US" sz="1400" b="0">
                <a:solidFill>
                  <a:srgbClr val="1A1F2E"/>
                </a:solidFill>
              </a:rPr>
              <a:t>  .gitignore          Git ignore (venv, .env, __pycache__, logs, plans/*.md)</a:t>
            </a:r>
          </a:p>
          <a:p>
            <a:r>
              <a:rPr lang="en-US" sz="1400" b="0">
                <a:solidFill>
                  <a:srgbClr val="1A1F2E"/>
                </a:solidFill>
              </a:rPr>
              <a:t>  LICENSE             MIT License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templates/</a:t>
            </a:r>
          </a:p>
          <a:p>
            <a:r>
              <a:rPr lang="en-US" sz="1400" b="0">
                <a:solidFill>
                  <a:srgbClr val="1A1F2E"/>
                </a:solidFill>
              </a:rPr>
              <a:t>    index.html        Single-page web application (Jinja2 template)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static/</a:t>
            </a:r>
          </a:p>
          <a:p>
            <a:r>
              <a:rPr lang="en-US" sz="1400" b="0">
                <a:solidFill>
                  <a:srgbClr val="1A1F2E"/>
                </a:solidFill>
              </a:rPr>
              <a:t>    style.css         Application styles — IBM design language, responsive</a:t>
            </a:r>
          </a:p>
          <a:p>
            <a:r>
              <a:rPr lang="en-US" sz="1400" b="0">
                <a:solidFill>
                  <a:srgbClr val="1A1F2E"/>
                </a:solidFill>
              </a:rPr>
              <a:t>    app.js            Frontend JavaScript — Fetch API, Marked.js, form validation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plans/</a:t>
            </a:r>
          </a:p>
          <a:p>
            <a:r>
              <a:rPr lang="en-US" sz="1400" b="0">
                <a:solidFill>
                  <a:srgbClr val="1A1F2E"/>
                </a:solidFill>
              </a:rPr>
              <a:t>    sample_nutrition_plan.md     Example generated plan</a:t>
            </a:r>
          </a:p>
          <a:p>
            <a:r>
              <a:rPr lang="en-US" sz="1400" b="0">
                <a:solidFill>
                  <a:srgbClr val="1A1F2E"/>
                </a:solidFill>
              </a:rPr>
              <a:t>    [user]_[timestamp]_plan.md   Auto-saved per request</a:t>
            </a:r>
          </a:p>
        </p:txBody>
      </p:sp>
      <p:sp>
        <p:nvSpPr>
          <p:cNvPr id="100114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15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116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A2342"/>
                </a:solidFill>
                <a:latin typeface="Calibri"/>
                <a:ea typeface="Calibri"/>
              </a:rPr>
              <a:t>Deployment — run.bat One-Click Launcher</a:t>
            </a:r>
          </a:p>
        </p:txBody>
      </p:sp>
      <p:sp>
        <p:nvSpPr>
          <p:cNvPr id="100117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118" name="StepsLeft"/>
          <p:cNvSpPr txBox="1"/>
          <p:nvPr/>
        </p:nvSpPr>
        <p:spPr>
          <a:xfrm>
            <a:off x="540000" y="1008000"/>
            <a:ext cx="5220000" cy="432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What run.bat Does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Step 1 — Check Python</a:t>
            </a:r>
          </a:p>
          <a:p>
            <a:r>
              <a:rPr lang="en-US" sz="1400" b="0">
                <a:solidFill>
                  <a:srgbClr val="1A1F2E"/>
                </a:solidFill>
              </a:rPr>
              <a:t>  Verifies Python 3.9+ is installed.</a:t>
            </a:r>
          </a:p>
          <a:p>
            <a:r>
              <a:rPr lang="en-US" sz="1400" b="0">
                <a:solidFill>
                  <a:srgbClr val="1A1F2E"/>
                </a:solidFill>
              </a:rPr>
              <a:t>  Shows clear error + download link if missing.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Step 2 — Configure .env</a:t>
            </a:r>
          </a:p>
          <a:p>
            <a:r>
              <a:rPr lang="en-US" sz="1400" b="0">
                <a:solidFill>
                  <a:srgbClr val="1A1F2E"/>
                </a:solidFill>
              </a:rPr>
              <a:t>  Copies .env.example to .env automatically.</a:t>
            </a:r>
          </a:p>
          <a:p>
            <a:r>
              <a:rPr lang="en-US" sz="1400" b="0">
                <a:solidFill>
                  <a:srgbClr val="1A1F2E"/>
                </a:solidFill>
              </a:rPr>
              <a:t>  Prompts user to enter Watsonx API Key + Project ID.</a:t>
            </a:r>
          </a:p>
          <a:p>
            <a:r>
              <a:rPr lang="en-US" sz="1400" b="0">
                <a:solidFill>
                  <a:srgbClr val="1A1F2E"/>
                </a:solidFill>
              </a:rPr>
              <a:t>  Skippable — runs in Demo Mode if no key.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Step 3 — Virtual Environment</a:t>
            </a:r>
          </a:p>
          <a:p>
            <a:r>
              <a:rPr lang="en-US" sz="1400" b="0">
                <a:solidFill>
                  <a:srgbClr val="1A1F2E"/>
                </a:solidFill>
              </a:rPr>
              <a:t>  Creates venv/ if it doesn't exist.</a:t>
            </a:r>
          </a:p>
          <a:p>
            <a:r>
              <a:rPr lang="en-US" sz="1400" b="0">
                <a:solidFill>
                  <a:srgbClr val="1A1F2E"/>
                </a:solidFill>
              </a:rPr>
              <a:t>  Activates the environment for isolation.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Step 4 — Install Dependencies</a:t>
            </a:r>
          </a:p>
          <a:p>
            <a:r>
              <a:rPr lang="en-US" sz="1400" b="0">
                <a:solidFill>
                  <a:srgbClr val="1A1F2E"/>
                </a:solidFill>
              </a:rPr>
              <a:t>  pip install -r requirements.txt</a:t>
            </a:r>
          </a:p>
          <a:p>
            <a:r>
              <a:rPr lang="en-US" sz="1400" b="0">
                <a:solidFill>
                  <a:srgbClr val="1A1F2E"/>
                </a:solidFill>
              </a:rPr>
              <a:t>  All packages auto-installed silently.</a:t>
            </a:r>
          </a:p>
        </p:txBody>
      </p:sp>
      <p:sp>
        <p:nvSpPr>
          <p:cNvPr id="100119" name="StepsRight"/>
          <p:cNvSpPr txBox="1"/>
          <p:nvPr/>
        </p:nvSpPr>
        <p:spPr>
          <a:xfrm>
            <a:off x="5940000" y="1008000"/>
            <a:ext cx="5400000" cy="4320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300" b="0">
                <a:solidFill>
                  <a:srgbClr val="A8C8FF"/>
                </a:solidFill>
              </a:rPr>
              <a:t>run.bat Output (Console)</a:t>
            </a:r>
          </a:p>
          <a:p>
            <a:endParaRPr lang="en-US" sz="1300" b="0">
              <a:solidFill>
                <a:srgbClr val="A8C8FF"/>
              </a:solidFill>
            </a:endParaRPr>
          </a:p>
          <a:p>
            <a:r>
              <a:rPr lang="en-US" sz="1300" b="0">
                <a:solidFill>
                  <a:srgbClr val="A8C8FF"/>
                </a:solidFill>
              </a:rPr>
              <a:t>  =========================================</a:t>
            </a:r>
          </a:p>
          <a:p>
            <a:r>
              <a:rPr lang="en-US" sz="1300" b="0">
                <a:solidFill>
                  <a:srgbClr val="A8C8FF"/>
                </a:solidFill>
              </a:rPr>
              <a:t>  NutriGuide - Nutrition Agentic AI</a:t>
            </a:r>
          </a:p>
          <a:p>
            <a:r>
              <a:rPr lang="en-US" sz="1300" b="0">
                <a:solidFill>
                  <a:srgbClr val="A8C8FF"/>
                </a:solidFill>
              </a:rPr>
              <a:t>  Powered by IBM Granite 3.3 (Watsonx.ai)</a:t>
            </a:r>
          </a:p>
          <a:p>
            <a:r>
              <a:rPr lang="en-US" sz="1300" b="0">
                <a:solidFill>
                  <a:srgbClr val="A8C8FF"/>
                </a:solidFill>
              </a:rPr>
              <a:t>  =========================================</a:t>
            </a:r>
          </a:p>
          <a:p>
            <a:endParaRPr lang="en-US" sz="1300" b="0">
              <a:solidFill>
                <a:srgbClr val="A8C8FF"/>
              </a:solidFill>
            </a:endParaRPr>
          </a:p>
          <a:p>
            <a:r>
              <a:rPr lang="en-US" sz="1300" b="0">
                <a:solidFill>
                  <a:srgbClr val="A8C8FF"/>
                </a:solidFill>
              </a:rPr>
              <a:t>  [1/5] Checking Python...  Found: Python 3.13.14</a:t>
            </a:r>
          </a:p>
          <a:p>
            <a:r>
              <a:rPr lang="en-US" sz="1300" b="0">
                <a:solidFill>
                  <a:srgbClr val="A8C8FF"/>
                </a:solidFill>
              </a:rPr>
              <a:t>  [2/5] Checking environment configuration...</a:t>
            </a:r>
          </a:p>
          <a:p>
            <a:r>
              <a:rPr lang="en-US" sz="1300" b="0">
                <a:solidFill>
                  <a:srgbClr val="A8C8FF"/>
                </a:solidFill>
              </a:rPr>
              <a:t>        API key already configured.</a:t>
            </a:r>
          </a:p>
          <a:p>
            <a:r>
              <a:rPr lang="en-US" sz="1300" b="0">
                <a:solidFill>
                  <a:srgbClr val="A8C8FF"/>
                </a:solidFill>
              </a:rPr>
              <a:t>  [3/5] Setting up Python virtual environment...</a:t>
            </a:r>
          </a:p>
          <a:p>
            <a:r>
              <a:rPr lang="en-US" sz="1300" b="0">
                <a:solidFill>
                  <a:srgbClr val="A8C8FF"/>
                </a:solidFill>
              </a:rPr>
              <a:t>        Virtual environment already exists.</a:t>
            </a:r>
          </a:p>
          <a:p>
            <a:r>
              <a:rPr lang="en-US" sz="1300" b="0">
                <a:solidFill>
                  <a:srgbClr val="A8C8FF"/>
                </a:solidFill>
              </a:rPr>
              <a:t>  [4/5] Installing Python dependencies...</a:t>
            </a:r>
          </a:p>
          <a:p>
            <a:r>
              <a:rPr lang="en-US" sz="1300" b="0">
                <a:solidFill>
                  <a:srgbClr val="A8C8FF"/>
                </a:solidFill>
              </a:rPr>
              <a:t>        All dependencies installed successfully.</a:t>
            </a:r>
          </a:p>
          <a:p>
            <a:r>
              <a:rPr lang="en-US" sz="1300" b="0">
                <a:solidFill>
                  <a:srgbClr val="A8C8FF"/>
                </a:solidFill>
              </a:rPr>
              <a:t>  [5/5] Starting NutriGuide Agentic AI...</a:t>
            </a:r>
          </a:p>
          <a:p>
            <a:endParaRPr lang="en-US" sz="1300" b="0">
              <a:solidFill>
                <a:srgbClr val="A8C8FF"/>
              </a:solidFill>
            </a:endParaRPr>
          </a:p>
          <a:p>
            <a:r>
              <a:rPr lang="en-US" sz="1300" b="0">
                <a:solidFill>
                  <a:srgbClr val="A8C8FF"/>
                </a:solidFill>
              </a:rPr>
              <a:t>  Application is starting...</a:t>
            </a:r>
          </a:p>
          <a:p>
            <a:r>
              <a:rPr lang="en-US" sz="1300" b="0">
                <a:solidFill>
                  <a:srgbClr val="A8C8FF"/>
                </a:solidFill>
              </a:rPr>
              <a:t>  Open your browser at: http://localhost:5000</a:t>
            </a:r>
          </a:p>
          <a:p>
            <a:r>
              <a:rPr lang="en-US" sz="1300" b="0">
                <a:solidFill>
                  <a:srgbClr val="A8C8FF"/>
                </a:solidFill>
              </a:rPr>
              <a:t>  Press Ctrl+C to stop the server</a:t>
            </a:r>
          </a:p>
          <a:p>
            <a:endParaRPr lang="en-US" sz="1300" b="0">
              <a:solidFill>
                <a:srgbClr val="A8C8FF"/>
              </a:solidFill>
            </a:endParaRPr>
          </a:p>
          <a:p>
            <a:r>
              <a:rPr lang="en-US" sz="1300" b="0">
                <a:solidFill>
                  <a:srgbClr val="A8C8FF"/>
                </a:solidFill>
              </a:rPr>
              <a:t>  NutriGuide Agentic AI starting on port 5000</a:t>
            </a:r>
          </a:p>
          <a:p>
            <a:r>
              <a:rPr lang="en-US" sz="1300" b="0">
                <a:solidFill>
                  <a:srgbClr val="A8C8FF"/>
                </a:solidFill>
              </a:rPr>
              <a:t>  IBM Granite model: Demo Mode</a:t>
            </a:r>
          </a:p>
        </p:txBody>
      </p:sp>
      <p:sp>
        <p:nvSpPr>
          <p:cNvPr id="100120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21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122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A2342"/>
                </a:solidFill>
                <a:latin typeface="Calibri"/>
                <a:ea typeface="Calibri"/>
              </a:rPr>
              <a:t>GitHub Repository</a:t>
            </a:r>
          </a:p>
        </p:txBody>
      </p:sp>
      <p:sp>
        <p:nvSpPr>
          <p:cNvPr id="100123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124" name="RepoURL"/>
          <p:cNvSpPr txBox="1"/>
          <p:nvPr/>
        </p:nvSpPr>
        <p:spPr>
          <a:xfrm>
            <a:off x="540000" y="1008000"/>
            <a:ext cx="10800000" cy="36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2000" b="1">
                <a:solidFill>
                  <a:srgbClr val="0F62FE"/>
                </a:solidFill>
              </a:rPr>
              <a:t>https://github.com/akshitgajera1013/Nutrition-Agentic-AI</a:t>
            </a:r>
          </a:p>
        </p:txBody>
      </p:sp>
      <p:sp>
        <p:nvSpPr>
          <p:cNvPr id="100125" name="CommitInfo"/>
          <p:cNvSpPr txBox="1"/>
          <p:nvPr/>
        </p:nvSpPr>
        <p:spPr>
          <a:xfrm>
            <a:off x="540000" y="1440000"/>
            <a:ext cx="5220000" cy="3600000"/>
          </a:xfrm>
          <a:prstGeom prst="rect">
            <a:avLst/>
          </a:prstGeom>
          <a:solidFill>
            <a:srgbClr val="F7F8FA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Initial Commit Details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Commit:   255de7c</a:t>
            </a:r>
          </a:p>
          <a:p>
            <a:r>
              <a:rPr lang="en-US" sz="1300" b="0">
                <a:solidFill>
                  <a:srgbClr val="1A1F2E"/>
                </a:solidFill>
              </a:rPr>
              <a:t>Branch:   main</a:t>
            </a:r>
          </a:p>
          <a:p>
            <a:r>
              <a:rPr lang="en-US" sz="1300" b="0">
                <a:solidFill>
                  <a:srgbClr val="1A1F2E"/>
                </a:solidFill>
              </a:rPr>
              <a:t>Files:    13 files changed</a:t>
            </a:r>
          </a:p>
          <a:p>
            <a:r>
              <a:rPr lang="en-US" sz="1300" b="0">
                <a:solidFill>
                  <a:srgbClr val="1A1F2E"/>
                </a:solidFill>
              </a:rPr>
              <a:t>Inserts:  2,585 insertions</a:t>
            </a:r>
          </a:p>
          <a:p>
            <a:r>
              <a:rPr lang="en-US" sz="1300" b="0">
                <a:solidFill>
                  <a:srgbClr val="1A1F2E"/>
                </a:solidFill>
              </a:rPr>
              <a:t>Date:     2024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Commit Message:</a:t>
            </a:r>
          </a:p>
          <a:p>
            <a:r>
              <a:rPr lang="en-US" sz="1300" b="0">
                <a:solidFill>
                  <a:srgbClr val="1A1F2E"/>
                </a:solidFill>
              </a:rPr>
              <a:t>feat: initial commit — NutriGuide Nutrition Agentic AI</a:t>
            </a:r>
          </a:p>
          <a:p>
            <a:r>
              <a:rPr lang="en-US" sz="1300" b="0">
                <a:solidFill>
                  <a:srgbClr val="1A1F2E"/>
                </a:solidFill>
              </a:rPr>
              <a:t>- Full-stack web app powered by IBM Granite 3.3 8B Instruct</a:t>
            </a:r>
          </a:p>
          <a:p>
            <a:r>
              <a:rPr lang="en-US" sz="1300" b="0">
                <a:solidFill>
                  <a:srgbClr val="1A1F2E"/>
                </a:solidFill>
              </a:rPr>
              <a:t>- Flask backend with IBM Watsonx AI SDK integration</a:t>
            </a:r>
          </a:p>
          <a:p>
            <a:r>
              <a:rPr lang="en-US" sz="1300" b="0">
                <a:solidFill>
                  <a:srgbClr val="1A1F2E"/>
                </a:solidFill>
              </a:rPr>
              <a:t>- Agentic AI: nutrition plan generation + Q&amp;A agent</a:t>
            </a:r>
          </a:p>
          <a:p>
            <a:r>
              <a:rPr lang="en-US" sz="1300" b="0">
                <a:solidFill>
                  <a:srgbClr val="1A1F2E"/>
                </a:solidFill>
              </a:rPr>
              <a:t>- Ethical guardrails, HAM principles, medical disclaimers</a:t>
            </a:r>
          </a:p>
          <a:p>
            <a:r>
              <a:rPr lang="en-US" sz="1300" b="0">
                <a:solidFill>
                  <a:srgbClr val="1A1F2E"/>
                </a:solidFill>
              </a:rPr>
              <a:t>- Markdown (.md) plan export with auto-save</a:t>
            </a:r>
          </a:p>
          <a:p>
            <a:r>
              <a:rPr lang="en-US" sz="1300" b="0">
                <a:solidFill>
                  <a:srgbClr val="1A1F2E"/>
                </a:solidFill>
              </a:rPr>
              <a:t>- Responsive single-page web UI (HTML/CSS/JS)</a:t>
            </a:r>
          </a:p>
          <a:p>
            <a:r>
              <a:rPr lang="en-US" sz="1300" b="0">
                <a:solidFill>
                  <a:srgbClr val="1A1F2E"/>
                </a:solidFill>
              </a:rPr>
              <a:t>- One-click Windows launcher (run.bat)</a:t>
            </a:r>
          </a:p>
        </p:txBody>
      </p:sp>
      <p:sp>
        <p:nvSpPr>
          <p:cNvPr id="100126" name="FilesBox"/>
          <p:cNvSpPr txBox="1"/>
          <p:nvPr/>
        </p:nvSpPr>
        <p:spPr>
          <a:xfrm>
            <a:off x="5940000" y="1440000"/>
            <a:ext cx="5400000" cy="3600000"/>
          </a:xfrm>
          <a:prstGeom prst="rect">
            <a:avLst/>
          </a:prstGeom>
          <a:solidFill>
            <a:srgbClr val="EEF5FF"/>
          </a:solidFill>
        </p:spPr>
        <p:txBody>
          <a:bodyPr/>
          <a:lstStyle/>
          <a:p>
            <a:r>
              <a:rPr lang="en-US" sz="1400" b="0">
                <a:solidFill>
                  <a:srgbClr val="1A1F2E"/>
                </a:solidFill>
              </a:rPr>
              <a:t>Files in Repository</a:t>
            </a:r>
          </a:p>
          <a:p>
            <a:endParaRPr lang="en-US" sz="1400" b="0">
              <a:solidFill>
                <a:srgbClr val="1A1F2E"/>
              </a:solidFill>
            </a:endParaRPr>
          </a:p>
          <a:p>
            <a:r>
              <a:rPr lang="en-US" sz="1400" b="0">
                <a:solidFill>
                  <a:srgbClr val="1A1F2E"/>
                </a:solidFill>
              </a:rPr>
              <a:t>  app.py</a:t>
            </a:r>
          </a:p>
          <a:p>
            <a:r>
              <a:rPr lang="en-US" sz="1400" b="0">
                <a:solidFill>
                  <a:srgbClr val="1A1F2E"/>
                </a:solidFill>
              </a:rPr>
              <a:t>  guardrails.py</a:t>
            </a:r>
          </a:p>
          <a:p>
            <a:r>
              <a:rPr lang="en-US" sz="1400" b="0">
                <a:solidFill>
                  <a:srgbClr val="1A1F2E"/>
                </a:solidFill>
              </a:rPr>
              <a:t>  disclaimer.py</a:t>
            </a:r>
          </a:p>
          <a:p>
            <a:r>
              <a:rPr lang="en-US" sz="1400" b="0">
                <a:solidFill>
                  <a:srgbClr val="1A1F2E"/>
                </a:solidFill>
              </a:rPr>
              <a:t>  requirements.txt</a:t>
            </a:r>
          </a:p>
          <a:p>
            <a:r>
              <a:rPr lang="en-US" sz="1400" b="0">
                <a:solidFill>
                  <a:srgbClr val="1A1F2E"/>
                </a:solidFill>
              </a:rPr>
              <a:t>  .env.example</a:t>
            </a:r>
          </a:p>
          <a:p>
            <a:r>
              <a:rPr lang="en-US" sz="1400" b="0">
                <a:solidFill>
                  <a:srgbClr val="1A1F2E"/>
                </a:solidFill>
              </a:rPr>
              <a:t>  run.bat</a:t>
            </a:r>
          </a:p>
          <a:p>
            <a:r>
              <a:rPr lang="en-US" sz="1400" b="0">
                <a:solidFill>
                  <a:srgbClr val="1A1F2E"/>
                </a:solidFill>
              </a:rPr>
              <a:t>  README.md</a:t>
            </a:r>
          </a:p>
          <a:p>
            <a:r>
              <a:rPr lang="en-US" sz="1400" b="0">
                <a:solidFill>
                  <a:srgbClr val="1A1F2E"/>
                </a:solidFill>
              </a:rPr>
              <a:t>  .gitignore</a:t>
            </a:r>
          </a:p>
          <a:p>
            <a:r>
              <a:rPr lang="en-US" sz="1400" b="0">
                <a:solidFill>
                  <a:srgbClr val="1A1F2E"/>
                </a:solidFill>
              </a:rPr>
              <a:t>  LICENSE</a:t>
            </a:r>
          </a:p>
          <a:p>
            <a:r>
              <a:rPr lang="en-US" sz="1400" b="0">
                <a:solidFill>
                  <a:srgbClr val="1A1F2E"/>
                </a:solidFill>
              </a:rPr>
              <a:t>  templates/index.html</a:t>
            </a:r>
          </a:p>
          <a:p>
            <a:r>
              <a:rPr lang="en-US" sz="1400" b="0">
                <a:solidFill>
                  <a:srgbClr val="1A1F2E"/>
                </a:solidFill>
              </a:rPr>
              <a:t>  static/style.css</a:t>
            </a:r>
          </a:p>
          <a:p>
            <a:r>
              <a:rPr lang="en-US" sz="1400" b="0">
                <a:solidFill>
                  <a:srgbClr val="1A1F2E"/>
                </a:solidFill>
              </a:rPr>
              <a:t>  static/app.js</a:t>
            </a:r>
          </a:p>
          <a:p>
            <a:r>
              <a:rPr lang="en-US" sz="1400" b="0">
                <a:solidFill>
                  <a:srgbClr val="1A1F2E"/>
                </a:solidFill>
              </a:rPr>
              <a:t>  plans/sample_nutrition_plan.md</a:t>
            </a:r>
          </a:p>
        </p:txBody>
      </p:sp>
      <p:sp>
        <p:nvSpPr>
          <p:cNvPr id="100127" name="CloneCmd"/>
          <p:cNvSpPr txBox="1"/>
          <p:nvPr/>
        </p:nvSpPr>
        <p:spPr>
          <a:xfrm>
            <a:off x="540000" y="5148000"/>
            <a:ext cx="10800000" cy="360000"/>
          </a:xfrm>
          <a:prstGeom prst="rect">
            <a:avLst/>
          </a:prstGeom>
          <a:solidFill>
            <a:srgbClr val="F3EFFF"/>
          </a:solidFill>
        </p:spPr>
        <p:txBody>
          <a:bodyPr/>
          <a:lstStyle/>
          <a:p>
            <a:r>
              <a:rPr lang="en-US" sz="1300" b="1">
                <a:solidFill>
                  <a:srgbClr val="6929C4"/>
                </a:solidFill>
              </a:rPr>
              <a:t>git clone https://github.com/akshitgajera1013/Nutrition-Agentic-AI.git  &amp;&amp;  cd Nutrition-Agentic-AI  &amp;&amp;  run.bat</a:t>
            </a:r>
          </a:p>
        </p:txBody>
      </p:sp>
      <p:sp>
        <p:nvSpPr>
          <p:cNvPr id="100128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29" name="TopBar"/>
          <p:cNvSpPr txBox="1"/>
          <p:nvPr/>
        </p:nvSpPr>
        <p:spPr>
          <a:xfrm>
            <a:off x="0" y="0"/>
            <a:ext cx="12193200" cy="288000"/>
          </a:xfrm>
          <a:prstGeom prst="rect">
            <a:avLst/>
          </a:prstGeom>
          <a:solidFill>
            <a:srgbClr val="0A2342"/>
          </a:solidFill>
        </p:spPr>
        <p:txBody>
          <a:bodyPr/>
          <a:lstStyle/>
          <a:p>
            <a:r>
              <a:rPr lang="en-US" sz="1100">
                <a:solidFill>
                  <a:srgbClr val="A8C8FF"/>
                </a:solidFill>
              </a:rPr>
              <a:t>NutriGuide Agentic AI  |  IBM Granite</a:t>
            </a:r>
          </a:p>
        </p:txBody>
      </p:sp>
      <p:sp>
        <p:nvSpPr>
          <p:cNvPr id="100130" name="Title"/>
          <p:cNvSpPr txBox="1"/>
          <p:nvPr/>
        </p:nvSpPr>
        <p:spPr>
          <a:xfrm>
            <a:off x="540000" y="432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A2342"/>
                </a:solidFill>
                <a:latin typeface="Calibri"/>
                <a:ea typeface="Calibri"/>
              </a:rPr>
              <a:t>Medical Disclaimer &amp; AI Ethics</a:t>
            </a:r>
          </a:p>
        </p:txBody>
      </p:sp>
      <p:sp>
        <p:nvSpPr>
          <p:cNvPr id="100131" name="Accent"/>
          <p:cNvSpPr txBox="1"/>
          <p:nvPr/>
        </p:nvSpPr>
        <p:spPr>
          <a:xfrm>
            <a:off x="540000" y="900000"/>
            <a:ext cx="1440000" cy="36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132" name="DisclBox"/>
          <p:cNvSpPr txBox="1"/>
          <p:nvPr/>
        </p:nvSpPr>
        <p:spPr>
          <a:xfrm>
            <a:off x="540000" y="1008000"/>
            <a:ext cx="6840000" cy="4500000"/>
          </a:xfrm>
          <a:prstGeom prst="rect">
            <a:avLst/>
          </a:prstGeom>
          <a:solidFill>
            <a:srgbClr val="FFF8E1"/>
          </a:solidFill>
        </p:spPr>
        <p:txBody>
          <a:bodyPr/>
          <a:lstStyle/>
          <a:p>
            <a:r>
              <a:rPr lang="en-US" sz="1300" b="0">
                <a:solidFill>
                  <a:srgbClr val="5A4000"/>
                </a:solidFill>
              </a:rPr>
              <a:t>Medical Disclaimer (Shown in Every Plan)</a:t>
            </a:r>
          </a:p>
          <a:p>
            <a:endParaRPr lang="en-US" sz="1300" b="0">
              <a:solidFill>
                <a:srgbClr val="5A4000"/>
              </a:solidFill>
            </a:endParaRPr>
          </a:p>
          <a:p>
            <a:r>
              <a:rPr lang="en-US" sz="1300" b="0">
                <a:solidFill>
                  <a:srgbClr val="5A4000"/>
                </a:solidFill>
              </a:rPr>
              <a:t>Dear [User],</a:t>
            </a:r>
          </a:p>
          <a:p>
            <a:endParaRPr lang="en-US" sz="1300" b="0">
              <a:solidFill>
                <a:srgbClr val="5A4000"/>
              </a:solidFill>
            </a:endParaRPr>
          </a:p>
          <a:p>
            <a:r>
              <a:rPr lang="en-US" sz="1300" b="0">
                <a:solidFill>
                  <a:srgbClr val="5A4000"/>
                </a:solidFill>
              </a:rPr>
              <a:t>The nutrition plan provided by NutriGuide (Nutrition Agentic AI) is intended</a:t>
            </a:r>
          </a:p>
          <a:p>
            <a:r>
              <a:rPr lang="en-US" sz="1300" b="0">
                <a:solidFill>
                  <a:srgbClr val="5A4000"/>
                </a:solidFill>
              </a:rPr>
              <a:t>for general informational and educational purposes only.</a:t>
            </a:r>
          </a:p>
          <a:p>
            <a:endParaRPr lang="en-US" sz="1300" b="0">
              <a:solidFill>
                <a:srgbClr val="5A4000"/>
              </a:solidFill>
            </a:endParaRPr>
          </a:p>
          <a:p>
            <a:r>
              <a:rPr lang="en-US" sz="1300" b="0">
                <a:solidFill>
                  <a:srgbClr val="5A4000"/>
                </a:solidFill>
              </a:rPr>
              <a:t>This content:</a:t>
            </a:r>
          </a:p>
          <a:p>
            <a:r>
              <a:rPr lang="en-US" sz="1300" b="0">
                <a:solidFill>
                  <a:srgbClr val="5A4000"/>
                </a:solidFill>
              </a:rPr>
              <a:t>  X  Does NOT constitute medical advice, diagnosis, or treatment</a:t>
            </a:r>
          </a:p>
          <a:p>
            <a:r>
              <a:rPr lang="en-US" sz="1300" b="0">
                <a:solidFill>
                  <a:srgbClr val="5A4000"/>
                </a:solidFill>
              </a:rPr>
              <a:t>  X  Does NOT replace consultation with a qualified physician or RD</a:t>
            </a:r>
          </a:p>
          <a:p>
            <a:r>
              <a:rPr lang="en-US" sz="1300" b="0">
                <a:solidFill>
                  <a:srgbClr val="5A4000"/>
                </a:solidFill>
              </a:rPr>
              <a:t>  X  Should NOT be used as the sole basis for health decisions</a:t>
            </a:r>
          </a:p>
          <a:p>
            <a:endParaRPr lang="en-US" sz="1300" b="0">
              <a:solidFill>
                <a:srgbClr val="5A4000"/>
              </a:solidFill>
            </a:endParaRPr>
          </a:p>
          <a:p>
            <a:r>
              <a:rPr lang="en-US" sz="1300" b="0">
                <a:solidFill>
                  <a:srgbClr val="5A4000"/>
                </a:solidFill>
              </a:rPr>
              <a:t>Before making significant dietary changes, please consult:</a:t>
            </a:r>
          </a:p>
          <a:p>
            <a:r>
              <a:rPr lang="en-US" sz="1300" b="0">
                <a:solidFill>
                  <a:srgbClr val="5A4000"/>
                </a:solidFill>
              </a:rPr>
              <a:t>  - Your primary care physician</a:t>
            </a:r>
          </a:p>
          <a:p>
            <a:r>
              <a:rPr lang="en-US" sz="1300" b="0">
                <a:solidFill>
                  <a:srgbClr val="5A4000"/>
                </a:solidFill>
              </a:rPr>
              <a:t>  - A registered dietitian (RD) or registered dietitian nutritionist (RDN)</a:t>
            </a:r>
          </a:p>
          <a:p>
            <a:r>
              <a:rPr lang="en-US" sz="1300" b="0">
                <a:solidFill>
                  <a:srgbClr val="5A4000"/>
                </a:solidFill>
              </a:rPr>
              <a:t>  - Your specialist for any condition-specific guidance</a:t>
            </a:r>
          </a:p>
          <a:p>
            <a:endParaRPr lang="en-US" sz="1300" b="0">
              <a:solidFill>
                <a:srgbClr val="5A4000"/>
              </a:solidFill>
            </a:endParaRPr>
          </a:p>
          <a:p>
            <a:r>
              <a:rPr lang="en-US" sz="1300" b="0">
                <a:solidFill>
                  <a:srgbClr val="5A4000"/>
                </a:solidFill>
              </a:rPr>
              <a:t>Additional Notice (for high-risk conditions):</a:t>
            </a:r>
          </a:p>
          <a:p>
            <a:r>
              <a:rPr lang="en-US" sz="1300" b="0">
                <a:solidFill>
                  <a:srgbClr val="5A4000"/>
                </a:solidFill>
              </a:rPr>
              <a:t>  Your profile indicates conditions such as Diabetes / Blood Pressure / etc.</a:t>
            </a:r>
          </a:p>
          <a:p>
            <a:r>
              <a:rPr lang="en-US" sz="1300" b="0">
                <a:solidFill>
                  <a:srgbClr val="5A4000"/>
                </a:solidFill>
              </a:rPr>
              <a:t>  These require specialist medical supervision for any dietary changes.</a:t>
            </a:r>
          </a:p>
          <a:p>
            <a:r>
              <a:rPr lang="en-US" sz="1300" b="0">
                <a:solidFill>
                  <a:srgbClr val="5A4000"/>
                </a:solidFill>
              </a:rPr>
              <a:t>  This plan is a general starting point only.</a:t>
            </a:r>
          </a:p>
          <a:p>
            <a:endParaRPr lang="en-US" sz="1300" b="0">
              <a:solidFill>
                <a:srgbClr val="5A4000"/>
              </a:solidFill>
            </a:endParaRPr>
          </a:p>
          <a:p>
            <a:r>
              <a:rPr lang="en-US" sz="1300" b="0">
                <a:solidFill>
                  <a:srgbClr val="5A4000"/>
                </a:solidFill>
              </a:rPr>
              <a:t>NutriGuide AI — Powered by IBM Granite | Following WHO &amp; FDA Guidelines</a:t>
            </a:r>
          </a:p>
        </p:txBody>
      </p:sp>
      <p:sp>
        <p:nvSpPr>
          <p:cNvPr id="100133" name="EthicsBox"/>
          <p:cNvSpPr txBox="1"/>
          <p:nvPr/>
        </p:nvSpPr>
        <p:spPr>
          <a:xfrm>
            <a:off x="7740000" y="1008000"/>
            <a:ext cx="3600000" cy="4500000"/>
          </a:xfrm>
          <a:prstGeom prst="rect">
            <a:avLst/>
          </a:prstGeom>
          <a:solidFill>
            <a:srgbClr val="EDFAF1"/>
          </a:solidFill>
        </p:spPr>
        <p:txBody>
          <a:bodyPr/>
          <a:lstStyle/>
          <a:p>
            <a:r>
              <a:rPr lang="en-US" sz="1300" b="0">
                <a:solidFill>
                  <a:srgbClr val="1A1F2E"/>
                </a:solidFill>
              </a:rPr>
              <a:t>IBM Responsible AI Principles Applied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Transparency</a:t>
            </a:r>
          </a:p>
          <a:p>
            <a:r>
              <a:rPr lang="en-US" sz="1300" b="0">
                <a:solidFill>
                  <a:srgbClr val="1A1F2E"/>
                </a:solidFill>
              </a:rPr>
              <a:t>  LLM source and model ID shown</a:t>
            </a:r>
          </a:p>
          <a:p>
            <a:r>
              <a:rPr lang="en-US" sz="1300" b="0">
                <a:solidFill>
                  <a:srgbClr val="1A1F2E"/>
                </a:solidFill>
              </a:rPr>
              <a:t>  in every plan output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Fairness</a:t>
            </a:r>
          </a:p>
          <a:p>
            <a:r>
              <a:rPr lang="en-US" sz="1300" b="0">
                <a:solidFill>
                  <a:srgbClr val="1A1F2E"/>
                </a:solidFill>
              </a:rPr>
              <a:t>  Non-judgmental, inclusive tone</a:t>
            </a:r>
          </a:p>
          <a:p>
            <a:r>
              <a:rPr lang="en-US" sz="1300" b="0">
                <a:solidFill>
                  <a:srgbClr val="1A1F2E"/>
                </a:solidFill>
              </a:rPr>
              <a:t>  across all diet types and conditions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Privacy</a:t>
            </a:r>
          </a:p>
          <a:p>
            <a:r>
              <a:rPr lang="en-US" sz="1300" b="0">
                <a:solidFill>
                  <a:srgbClr val="1A1F2E"/>
                </a:solidFill>
              </a:rPr>
              <a:t>  No PII stored or logged beyond</a:t>
            </a:r>
          </a:p>
          <a:p>
            <a:r>
              <a:rPr lang="en-US" sz="1300" b="0">
                <a:solidFill>
                  <a:srgbClr val="1A1F2E"/>
                </a:solidFill>
              </a:rPr>
              <a:t>  the generated plan file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Safety</a:t>
            </a:r>
          </a:p>
          <a:p>
            <a:r>
              <a:rPr lang="en-US" sz="1300" b="0">
                <a:solidFill>
                  <a:srgbClr val="1A1F2E"/>
                </a:solidFill>
              </a:rPr>
              <a:t>  Harmful content never generated;</a:t>
            </a:r>
          </a:p>
          <a:p>
            <a:r>
              <a:rPr lang="en-US" sz="1300" b="0">
                <a:solidFill>
                  <a:srgbClr val="1A1F2E"/>
                </a:solidFill>
              </a:rPr>
              <a:t>  fallback to safe message if detected</a:t>
            </a:r>
          </a:p>
          <a:p>
            <a:endParaRPr lang="en-US" sz="1300" b="0">
              <a:solidFill>
                <a:srgbClr val="1A1F2E"/>
              </a:solidFill>
            </a:endParaRPr>
          </a:p>
          <a:p>
            <a:r>
              <a:rPr lang="en-US" sz="1300" b="0">
                <a:solidFill>
                  <a:srgbClr val="1A1F2E"/>
                </a:solidFill>
              </a:rPr>
              <a:t>  Accountability</a:t>
            </a:r>
          </a:p>
          <a:p>
            <a:r>
              <a:rPr lang="en-US" sz="1300" b="0">
                <a:solidFill>
                  <a:srgbClr val="1A1F2E"/>
                </a:solidFill>
              </a:rPr>
              <a:t>  Medical disclaimers on every output;</a:t>
            </a:r>
          </a:p>
          <a:p>
            <a:r>
              <a:rPr lang="en-US" sz="1300" b="0">
                <a:solidFill>
                  <a:srgbClr val="1A1F2E"/>
                </a:solidFill>
              </a:rPr>
              <a:t>  professional consultation always urged</a:t>
            </a:r>
          </a:p>
        </p:txBody>
      </p:sp>
      <p:sp>
        <p:nvSpPr>
          <p:cNvPr id="100134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35" name="TopBar"/>
          <p:cNvSpPr txBox="1"/>
          <p:nvPr/>
        </p:nvSpPr>
        <p:spPr>
          <a:xfrm>
            <a:off x="0" y="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  <p:sp>
        <p:nvSpPr>
          <p:cNvPr id="100136" name="Title"/>
          <p:cNvSpPr txBox="1"/>
          <p:nvPr/>
        </p:nvSpPr>
        <p:spPr>
          <a:xfrm>
            <a:off x="720000" y="1080000"/>
            <a:ext cx="10800000" cy="1080000"/>
          </a:xfrm>
          <a:prstGeom prst="rect">
            <a:avLst/>
          </a:prstGeom>
        </p:spPr>
        <p:txBody>
          <a:bodyPr/>
          <a:lstStyle/>
          <a:p>
            <a:r>
              <a:rPr lang="en-US" sz="6000" b="1">
                <a:solidFill>
                  <a:srgbClr val="FFFFFF"/>
                </a:solidFill>
                <a:latin typeface="Calibri"/>
                <a:ea typeface="Calibri"/>
              </a:rPr>
              <a:t>Thank You</a:t>
            </a:r>
          </a:p>
        </p:txBody>
      </p:sp>
      <p:sp>
        <p:nvSpPr>
          <p:cNvPr id="100137" name="Sub"/>
          <p:cNvSpPr txBox="1"/>
          <p:nvPr/>
        </p:nvSpPr>
        <p:spPr>
          <a:xfrm>
            <a:off x="720000" y="2340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2800" b="0">
                <a:solidFill>
                  <a:srgbClr val="A8C8FF"/>
                </a:solidFill>
                <a:latin typeface="Calibri"/>
                <a:ea typeface="Calibri"/>
              </a:rPr>
              <a:t>NutriGuide — Nutrition Agentic AI</a:t>
            </a:r>
          </a:p>
        </p:txBody>
      </p:sp>
      <p:sp>
        <p:nvSpPr>
          <p:cNvPr id="100138" name="Divider"/>
          <p:cNvSpPr txBox="1"/>
          <p:nvPr/>
        </p:nvSpPr>
        <p:spPr>
          <a:xfrm>
            <a:off x="720000" y="2880000"/>
            <a:ext cx="2880000" cy="288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0F62FE"/>
              </a:solidFill>
            </a:endParaRPr>
          </a:p>
        </p:txBody>
      </p:sp>
      <p:sp>
        <p:nvSpPr>
          <p:cNvPr id="100139" name="Tech"/>
          <p:cNvSpPr txBox="1"/>
          <p:nvPr/>
        </p:nvSpPr>
        <p:spPr>
          <a:xfrm>
            <a:off x="720000" y="3060000"/>
            <a:ext cx="10800000" cy="288000"/>
          </a:xfrm>
          <a:prstGeom prst="rect">
            <a:avLst/>
          </a:prstGeom>
        </p:spPr>
        <p:txBody>
          <a:bodyPr/>
          <a:lstStyle/>
          <a:p>
            <a:r>
              <a:rPr lang="en-US" sz="1600" b="0">
                <a:solidFill>
                  <a:srgbClr val="9EF0AC"/>
                </a:solidFill>
                <a:latin typeface="Calibri"/>
                <a:ea typeface="Calibri"/>
              </a:rPr>
              <a:t>IBM Granite 3.3 8B Instruct  ·  Watsonx.ai  ·  Python Flask  ·  Ethical AI  ·  HAM Principles</a:t>
            </a:r>
          </a:p>
        </p:txBody>
      </p:sp>
      <p:sp>
        <p:nvSpPr>
          <p:cNvPr id="100140" name="GitHub"/>
          <p:cNvSpPr txBox="1"/>
          <p:nvPr/>
        </p:nvSpPr>
        <p:spPr>
          <a:xfrm>
            <a:off x="720000" y="3600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800" b="0">
                <a:solidFill>
                  <a:srgbClr val="A8C8FF"/>
                </a:solidFill>
                <a:latin typeface="Calibri"/>
                <a:ea typeface="Calibri"/>
              </a:rPr>
              <a:t>GitHub:  https://github.com/akshitgajera1013/Nutrition-Agentic-AI</a:t>
            </a:r>
          </a:p>
        </p:txBody>
      </p:sp>
      <p:sp>
        <p:nvSpPr>
          <p:cNvPr id="100141" name="MedNote"/>
          <p:cNvSpPr txBox="1"/>
          <p:nvPr/>
        </p:nvSpPr>
        <p:spPr>
          <a:xfrm>
            <a:off x="720000" y="4320000"/>
            <a:ext cx="10800000" cy="540000"/>
          </a:xfrm>
          <a:prstGeom prst="rect">
            <a:avLst/>
          </a:prstGeom>
        </p:spPr>
        <p:txBody>
          <a:bodyPr/>
          <a:lstStyle/>
          <a:p>
            <a:r>
              <a:rPr lang="en-US" sz="1400" b="0">
                <a:solidFill>
                  <a:srgbClr val="F1C21B"/>
                </a:solidFill>
                <a:latin typeface="Calibri"/>
                <a:ea typeface="Calibri"/>
              </a:rPr>
              <a:t>This application provides general nutritional information only. It is NOT medical advice.</a:t>
            </a:r>
          </a:p>
          <a:p>
            <a:r>
              <a:rPr lang="en-US" sz="1400" b="0">
                <a:solidFill>
                  <a:srgbClr val="F1C21B"/>
                </a:solidFill>
                <a:latin typeface="Calibri"/>
                <a:ea typeface="Calibri"/>
              </a:rPr>
              <a:t>Always consult a qualified healthcare provider before making dietary changes.</a:t>
            </a:r>
          </a:p>
        </p:txBody>
      </p:sp>
      <p:sp>
        <p:nvSpPr>
          <p:cNvPr id="100142" name="BottomBar"/>
          <p:cNvSpPr txBox="1"/>
          <p:nvPr/>
        </p:nvSpPr>
        <p:spPr>
          <a:xfrm>
            <a:off x="0" y="6660000"/>
            <a:ext cx="12193200" cy="180000"/>
          </a:xfrm>
          <a:prstGeom prst="rect">
            <a:avLst/>
          </a:prstGeom>
          <a:solidFill>
            <a:srgbClr val="0F62FE"/>
          </a:solidFill>
        </p:spPr>
        <p:txBody>
          <a:bodyPr/>
          <a:lstStyle/>
          <a:p>
            <a:endParaRPr lang="en-US" sz="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 advTm="833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3384</Words>
  <Application>Microsoft Office PowerPoint</Application>
  <PresentationFormat>Widescreen</PresentationFormat>
  <Paragraphs>479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OfficeCLI</dc:creator>
  <cp:lastModifiedBy>STUDENT</cp:lastModifiedBy>
  <cp:revision>1</cp:revision>
  <dcterms:created xsi:type="dcterms:W3CDTF">2026-10-13T08:48:45Z</dcterms:created>
  <dcterms:modified xsi:type="dcterms:W3CDTF">2026-10-13T09:06:09Z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1.0.157</vt:lpwstr>
  </property>
  <property fmtid="{D5CDD505-2E9C-101B-9397-08002B2CF9AE}" pid="3" name="OfficeCLI.LastModified">
    <vt:lpwstr>2026-10-13T08:51:50Z</vt:lpwstr>
  </property>
</Properties>
</file>